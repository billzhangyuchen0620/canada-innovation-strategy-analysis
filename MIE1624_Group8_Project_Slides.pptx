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Thin"/>
      <p:regular r:id="rId35"/>
      <p:bold r:id="rId36"/>
      <p:italic r:id="rId37"/>
      <p:boldItalic r:id="rId38"/>
    </p:embeddedFont>
    <p:embeddedFont>
      <p:font typeface="Roboto"/>
      <p:regular r:id="rId39"/>
      <p:bold r:id="rId40"/>
      <p:italic r:id="rId41"/>
      <p:boldItalic r:id="rId42"/>
    </p:embeddedFont>
    <p:embeddedFont>
      <p:font typeface="Roboto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8FEB33-2D82-48AA-A10A-3A5789565198}">
  <a:tblStyle styleId="{FF8FEB33-2D82-48AA-A10A-3A57895651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4.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6.xml"/><Relationship Id="rId44" Type="http://schemas.openxmlformats.org/officeDocument/2006/relationships/font" Target="fonts/RobotoMedium-bold.fntdata"/><Relationship Id="rId21" Type="http://schemas.openxmlformats.org/officeDocument/2006/relationships/slide" Target="slides/slide15.xml"/><Relationship Id="rId43" Type="http://schemas.openxmlformats.org/officeDocument/2006/relationships/font" Target="fonts/RobotoMedium-regular.fntdata"/><Relationship Id="rId24" Type="http://schemas.openxmlformats.org/officeDocument/2006/relationships/slide" Target="slides/slide18.xml"/><Relationship Id="rId46" Type="http://schemas.openxmlformats.org/officeDocument/2006/relationships/font" Target="fonts/RobotoMedium-boldItalic.fntdata"/><Relationship Id="rId23" Type="http://schemas.openxmlformats.org/officeDocument/2006/relationships/slide" Target="slides/slide17.xml"/><Relationship Id="rId45" Type="http://schemas.openxmlformats.org/officeDocument/2006/relationships/font" Target="fonts/Robot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Thin-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Thin-italic.fntdata"/><Relationship Id="rId14" Type="http://schemas.openxmlformats.org/officeDocument/2006/relationships/slide" Target="slides/slide8.xml"/><Relationship Id="rId36" Type="http://schemas.openxmlformats.org/officeDocument/2006/relationships/font" Target="fonts/RobotoThin-bold.fntdata"/><Relationship Id="rId17" Type="http://schemas.openxmlformats.org/officeDocument/2006/relationships/slide" Target="slides/slide11.xml"/><Relationship Id="rId39" Type="http://schemas.openxmlformats.org/officeDocument/2006/relationships/font" Target="fonts/Roboto-regular.fntdata"/><Relationship Id="rId16" Type="http://schemas.openxmlformats.org/officeDocument/2006/relationships/slide" Target="slides/slide10.xml"/><Relationship Id="rId38" Type="http://schemas.openxmlformats.org/officeDocument/2006/relationships/font" Target="fonts/RobotoThin-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99be3206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99be3206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343541"/>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a16ff75a7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a16ff75a7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16ff75a7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a16ff75a7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2a4f8486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2a4f8486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62c17fd82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62c17fd82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2c17fd82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2c17fd82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2c17fd826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2c17fd826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14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2c17fd826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2c17fd826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In shaping Canada's 2023 innovation strategy, we should leverage global insights, notably from the U.S. and the UK. The U.S. example emphasized sector-specific nuances and the integral role of Research and Development (R&amp;D), linking patented technologies to innovation cycles. Examining the UK's approach highlighted education's pivotal role, with initiatives like the STEM Ambassador program and substantial investments in technical training.  As Canada forges ahead, integrating these insights—sector specificity, robust R&amp;D focus, and a strong educational foundation—will propel the nation into a leading position in the global innovation landscape.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62c17fd826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62c17fd826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2c17fd826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2c17fd826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a197342421_3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a197342421_3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a197342421_3_1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a197342421_3_1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99be32065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99be32065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99be32065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99be32065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a110526da3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a110526da3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a110526da3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a110526da3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a110526da3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a110526da3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99be3206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99be3206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a110526da3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a110526da3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a16ff75a7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a16ff75a7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100"/>
              </a:spcBef>
              <a:spcAft>
                <a:spcPts val="0"/>
              </a:spcAft>
              <a:buClr>
                <a:schemeClr val="dk1"/>
              </a:buClr>
              <a:buSzPts val="1100"/>
              <a:buFont typeface="Arial"/>
              <a:buNone/>
            </a:pPr>
            <a:r>
              <a:rPr b="1" lang="zh-CN" sz="1050">
                <a:solidFill>
                  <a:schemeClr val="dk1"/>
                </a:solidFill>
                <a:highlight>
                  <a:srgbClr val="FFFFFF"/>
                </a:highlight>
              </a:rPr>
              <a:t>Based on this plot, Canada's Gross Domestic Spending on Research and Development (% GDP) lags behind that of other nations. To enhance the Canada Innovation Measure Index, it is imperative to boost net national spending in R&amp;D. To achieve this, we will propose a strategy focusing on increasing R&amp;D funding. Since various R&amp;D funding sources across sectors, therefore we would find the most important sector and propose strategy focus on it.</a:t>
            </a:r>
            <a:endParaRPr b="1" sz="1050">
              <a:solidFill>
                <a:schemeClr val="dk1"/>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16ff75a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a16ff75a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1200">
                <a:solidFill>
                  <a:srgbClr val="374151"/>
                </a:solidFill>
                <a:latin typeface="Roboto"/>
                <a:ea typeface="Roboto"/>
                <a:cs typeface="Roboto"/>
                <a:sym typeface="Roboto"/>
              </a:rPr>
              <a:t>Potential need for increased investment in Canada's R&amp;D sector. Compare this with the USA and Canada, the difference is not that significant; but from the pervious page (comparison of national spending of the USA and Canada), the difference is significant. Therefore, we want to see their R&amp;D </a:t>
            </a:r>
            <a:r>
              <a:rPr lang="zh-CN" sz="1200">
                <a:solidFill>
                  <a:srgbClr val="374151"/>
                </a:solidFill>
                <a:latin typeface="Roboto"/>
                <a:ea typeface="Roboto"/>
                <a:cs typeface="Roboto"/>
                <a:sym typeface="Roboto"/>
              </a:rPr>
              <a:t>spending</a:t>
            </a:r>
            <a:r>
              <a:rPr lang="zh-CN" sz="1200">
                <a:solidFill>
                  <a:srgbClr val="374151"/>
                </a:solidFill>
                <a:latin typeface="Roboto"/>
                <a:ea typeface="Roboto"/>
                <a:cs typeface="Roboto"/>
                <a:sym typeface="Roboto"/>
              </a:rPr>
              <a:t> structures (&amp; R&amp;D funding) from different sectors in the USA and the CA.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a16ff75a7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a16ff75a7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100"/>
              </a:spcBef>
              <a:spcAft>
                <a:spcPts val="0"/>
              </a:spcAft>
              <a:buNone/>
            </a:pPr>
            <a:r>
              <a:rPr b="1" lang="zh-CN" sz="1050">
                <a:solidFill>
                  <a:schemeClr val="dk1"/>
                </a:solidFill>
                <a:highlight>
                  <a:srgbClr val="FFFFFF"/>
                </a:highlight>
              </a:rPr>
              <a:t>By comparing the Percentage of Total R&amp;D funds sources by different sectors of the USA and Canada, we obtain that the Canadian Business enterprise can increase their R&amp;D funding (spending) (which is a significant sector different than the USA's Business enterprise) ---&gt; To boost Canada's innovation. In addition, we obtain dramatical decrease in R&amp;D from business sector in the Canada in post covid-19 pandemic era…</a:t>
            </a:r>
            <a:endParaRPr b="1" sz="1050">
              <a:solidFill>
                <a:schemeClr val="dk1"/>
              </a:solidFill>
              <a:highlight>
                <a:srgbClr val="FFFFFF"/>
              </a:high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a16ff75a7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a16ff75a7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a16ff75a7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a16ff75a7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a16ff75a7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a16ff75a7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a197342421_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a197342421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a197342421_1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a197342421_1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1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hyperlink" Target="https://www.uspto.gov/web/offices/ac/ido/oeip/taf/us_stat.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19.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36.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26.png"/><Relationship Id="rId8"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locksearchgroup.com/canadas-expertise-in-innovation/" TargetMode="External"/><Relationship Id="rId4" Type="http://schemas.openxmlformats.org/officeDocument/2006/relationships/hyperlink" Target="https://open.canada.ca/data/dataset/267a1984-3816-4768-b31a-8d0a77a60d22/resource/0ae0cff7-1a3c-40bf-be52-543330012553" TargetMode="External"/><Relationship Id="rId5" Type="http://schemas.openxmlformats.org/officeDocument/2006/relationships/hyperlink" Target="https://www.uspto.gov/web/offices/ac/ido/oeip/taf/us_stat.htm" TargetMode="External"/><Relationship Id="rId6" Type="http://schemas.openxmlformats.org/officeDocument/2006/relationships/hyperlink" Target="https://ised-isde.canada.ca/site/canadian-intellectual-property-office/en/patent-statistics-2019-2020"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291175" y="488800"/>
            <a:ext cx="4773300" cy="3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rgbClr val="FFFFFF"/>
                </a:solidFill>
                <a:latin typeface="Times"/>
                <a:ea typeface="Times"/>
                <a:cs typeface="Times"/>
                <a:sym typeface="Times"/>
              </a:rPr>
              <a:t>Group 8</a:t>
            </a:r>
            <a:endParaRPr>
              <a:solidFill>
                <a:srgbClr val="FFFFFF"/>
              </a:solidFill>
              <a:latin typeface="Times"/>
              <a:ea typeface="Times"/>
              <a:cs typeface="Times"/>
              <a:sym typeface="Times"/>
            </a:endParaRPr>
          </a:p>
        </p:txBody>
      </p:sp>
      <p:pic>
        <p:nvPicPr>
          <p:cNvPr id="55" name="Google Shape;55;p13"/>
          <p:cNvPicPr preferRelativeResize="0"/>
          <p:nvPr/>
        </p:nvPicPr>
        <p:blipFill>
          <a:blip r:embed="rId3">
            <a:alphaModFix/>
          </a:blip>
          <a:stretch>
            <a:fillRect/>
          </a:stretch>
        </p:blipFill>
        <p:spPr>
          <a:xfrm>
            <a:off x="0" y="0"/>
            <a:ext cx="9171973" cy="5200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Global Innovation Index (</a:t>
            </a:r>
            <a:r>
              <a:rPr b="1" lang="zh-CN">
                <a:solidFill>
                  <a:srgbClr val="1C4587"/>
                </a:solidFill>
                <a:latin typeface="Times"/>
                <a:ea typeface="Times"/>
                <a:cs typeface="Times"/>
                <a:sym typeface="Times"/>
              </a:rPr>
              <a:t>GII): Unveiling Key Features </a:t>
            </a:r>
            <a:endParaRPr b="1">
              <a:solidFill>
                <a:srgbClr val="1C4587"/>
              </a:solidFill>
              <a:latin typeface="Times"/>
              <a:ea typeface="Times"/>
              <a:cs typeface="Times"/>
              <a:sym typeface="Times"/>
            </a:endParaRPr>
          </a:p>
        </p:txBody>
      </p:sp>
      <p:sp>
        <p:nvSpPr>
          <p:cNvPr id="61" name="Google Shape;61;p14"/>
          <p:cNvSpPr txBox="1"/>
          <p:nvPr>
            <p:ph idx="1" type="body"/>
          </p:nvPr>
        </p:nvSpPr>
        <p:spPr>
          <a:xfrm>
            <a:off x="278625" y="1461450"/>
            <a:ext cx="3166200" cy="3174300"/>
          </a:xfrm>
          <a:prstGeom prst="rect">
            <a:avLst/>
          </a:prstGeom>
          <a:solidFill>
            <a:srgbClr val="CFE2F3"/>
          </a:solidFill>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zh-CN" sz="1400">
                <a:solidFill>
                  <a:schemeClr val="dk1"/>
                </a:solidFill>
                <a:latin typeface="Times"/>
                <a:ea typeface="Times"/>
                <a:cs typeface="Times"/>
                <a:sym typeface="Times"/>
              </a:rPr>
              <a:t>Framework for GII: </a:t>
            </a:r>
            <a:endParaRPr b="1" sz="1400">
              <a:solidFill>
                <a:schemeClr val="dk1"/>
              </a:solidFill>
              <a:latin typeface="Times"/>
              <a:ea typeface="Times"/>
              <a:cs typeface="Times"/>
              <a:sym typeface="Times"/>
            </a:endParaRPr>
          </a:p>
          <a:p>
            <a:pPr indent="-317500" lvl="0" marL="457200" rtl="0" algn="l">
              <a:lnSpc>
                <a:spcPct val="150000"/>
              </a:lnSpc>
              <a:spcBef>
                <a:spcPts val="1200"/>
              </a:spcBef>
              <a:spcAft>
                <a:spcPts val="0"/>
              </a:spcAft>
              <a:buClr>
                <a:schemeClr val="dk1"/>
              </a:buClr>
              <a:buSzPts val="1400"/>
              <a:buFont typeface="Times"/>
              <a:buChar char="●"/>
            </a:pPr>
            <a:r>
              <a:rPr lang="zh-CN" sz="1400">
                <a:solidFill>
                  <a:schemeClr val="dk1"/>
                </a:solidFill>
                <a:latin typeface="Times"/>
                <a:ea typeface="Times"/>
                <a:cs typeface="Times"/>
                <a:sym typeface="Times"/>
              </a:rPr>
              <a:t>Institutions</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Human Capital &amp; Reasearch</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Infrastructure</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Market Sophistication</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Business Sophistication</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Knowledge &amp; Technology Outputs</a:t>
            </a:r>
            <a:endParaRPr sz="1400">
              <a:solidFill>
                <a:schemeClr val="dk1"/>
              </a:solidFill>
              <a:latin typeface="Times"/>
              <a:ea typeface="Times"/>
              <a:cs typeface="Times"/>
              <a:sym typeface="Times"/>
            </a:endParaRPr>
          </a:p>
          <a:p>
            <a:pPr indent="-317500" lvl="0" marL="457200" rtl="0" algn="l">
              <a:lnSpc>
                <a:spcPct val="150000"/>
              </a:lnSpc>
              <a:spcBef>
                <a:spcPts val="0"/>
              </a:spcBef>
              <a:spcAft>
                <a:spcPts val="0"/>
              </a:spcAft>
              <a:buClr>
                <a:schemeClr val="dk1"/>
              </a:buClr>
              <a:buSzPts val="1400"/>
              <a:buFont typeface="Times"/>
              <a:buChar char="●"/>
            </a:pPr>
            <a:r>
              <a:rPr lang="zh-CN" sz="1400">
                <a:solidFill>
                  <a:schemeClr val="dk1"/>
                </a:solidFill>
                <a:latin typeface="Times"/>
                <a:ea typeface="Times"/>
                <a:cs typeface="Times"/>
                <a:sym typeface="Times"/>
              </a:rPr>
              <a:t>Creative Outputs</a:t>
            </a:r>
            <a:endParaRPr sz="1400">
              <a:solidFill>
                <a:schemeClr val="dk1"/>
              </a:solidFill>
              <a:latin typeface="Times"/>
              <a:ea typeface="Times"/>
              <a:cs typeface="Times"/>
              <a:sym typeface="Times"/>
            </a:endParaRPr>
          </a:p>
        </p:txBody>
      </p:sp>
      <p:pic>
        <p:nvPicPr>
          <p:cNvPr id="62" name="Google Shape;62;p14"/>
          <p:cNvPicPr preferRelativeResize="0"/>
          <p:nvPr/>
        </p:nvPicPr>
        <p:blipFill>
          <a:blip r:embed="rId3">
            <a:alphaModFix/>
          </a:blip>
          <a:stretch>
            <a:fillRect/>
          </a:stretch>
        </p:blipFill>
        <p:spPr>
          <a:xfrm>
            <a:off x="3520875" y="1459729"/>
            <a:ext cx="5209801" cy="2717496"/>
          </a:xfrm>
          <a:prstGeom prst="rect">
            <a:avLst/>
          </a:prstGeom>
          <a:noFill/>
          <a:ln>
            <a:noFill/>
          </a:ln>
        </p:spPr>
      </p:pic>
      <p:sp>
        <p:nvSpPr>
          <p:cNvPr id="63" name="Google Shape;63;p14"/>
          <p:cNvSpPr txBox="1"/>
          <p:nvPr/>
        </p:nvSpPr>
        <p:spPr>
          <a:xfrm>
            <a:off x="446175" y="645900"/>
            <a:ext cx="859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Essential </a:t>
            </a:r>
            <a:r>
              <a:rPr b="1" lang="zh-CN" sz="1300">
                <a:solidFill>
                  <a:srgbClr val="343541"/>
                </a:solidFill>
                <a:latin typeface="Times"/>
                <a:ea typeface="Times"/>
                <a:cs typeface="Times"/>
                <a:sym typeface="Times"/>
              </a:rPr>
              <a:t>for understanding the innovation landscape globally. Utilizing Random Forest Regression, revealed Creative Outputs significantly impacts the GII, followed by Infrastructure and Knowledge and Technology Outputs.</a:t>
            </a:r>
            <a:endParaRPr b="1" sz="1300">
              <a:solidFill>
                <a:srgbClr val="343541"/>
              </a:solidFill>
              <a:latin typeface="Times"/>
              <a:ea typeface="Times"/>
              <a:cs typeface="Times"/>
              <a:sym typeface="Times"/>
            </a:endParaRPr>
          </a:p>
        </p:txBody>
      </p:sp>
      <p:cxnSp>
        <p:nvCxnSpPr>
          <p:cNvPr id="64" name="Google Shape;64;p14"/>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65" name="Google Shape;65;p14"/>
          <p:cNvSpPr txBox="1"/>
          <p:nvPr/>
        </p:nvSpPr>
        <p:spPr>
          <a:xfrm>
            <a:off x="3520875" y="4177225"/>
            <a:ext cx="520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000">
                <a:solidFill>
                  <a:srgbClr val="343541"/>
                </a:solidFill>
                <a:latin typeface="Times"/>
                <a:ea typeface="Times"/>
                <a:cs typeface="Times"/>
                <a:sym typeface="Times"/>
              </a:rPr>
              <a:t>Source: M</a:t>
            </a:r>
            <a:r>
              <a:rPr lang="zh-CN" sz="1000">
                <a:solidFill>
                  <a:srgbClr val="343541"/>
                </a:solidFill>
                <a:latin typeface="Times"/>
                <a:ea typeface="Times"/>
                <a:cs typeface="Times"/>
                <a:sym typeface="Times"/>
              </a:rPr>
              <a:t>erged from </a:t>
            </a:r>
            <a:r>
              <a:rPr i="1" lang="zh-CN" sz="1000">
                <a:solidFill>
                  <a:srgbClr val="343541"/>
                </a:solidFill>
                <a:latin typeface="Times"/>
                <a:ea typeface="Times"/>
                <a:cs typeface="Times"/>
                <a:sym typeface="Times"/>
              </a:rPr>
              <a:t>Mendeley</a:t>
            </a:r>
            <a:r>
              <a:rPr lang="zh-CN" sz="1000">
                <a:solidFill>
                  <a:srgbClr val="343541"/>
                </a:solidFill>
                <a:latin typeface="Times"/>
                <a:ea typeface="Times"/>
                <a:cs typeface="Times"/>
                <a:sym typeface="Times"/>
              </a:rPr>
              <a:t> and the </a:t>
            </a:r>
            <a:r>
              <a:rPr i="1" lang="zh-CN" sz="1000">
                <a:solidFill>
                  <a:srgbClr val="343541"/>
                </a:solidFill>
                <a:latin typeface="Times"/>
                <a:ea typeface="Times"/>
                <a:cs typeface="Times"/>
                <a:sym typeface="Times"/>
              </a:rPr>
              <a:t>World Intellectual Property Organization (WIPO)</a:t>
            </a:r>
            <a:endParaRPr i="1" sz="1000">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rot="634406">
            <a:off x="263115" y="1179939"/>
            <a:ext cx="3231020" cy="3462946"/>
          </a:xfrm>
          <a:prstGeom prst="rect">
            <a:avLst/>
          </a:prstGeom>
          <a:noFill/>
          <a:ln>
            <a:noFill/>
          </a:ln>
        </p:spPr>
      </p:pic>
      <p:sp>
        <p:nvSpPr>
          <p:cNvPr id="71" name="Google Shape;71;p15"/>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Average GII Rankings over 13 Years</a:t>
            </a:r>
            <a:endParaRPr b="1">
              <a:solidFill>
                <a:srgbClr val="1C4587"/>
              </a:solidFill>
              <a:latin typeface="Times"/>
              <a:ea typeface="Times"/>
              <a:cs typeface="Times"/>
              <a:sym typeface="Times"/>
            </a:endParaRPr>
          </a:p>
        </p:txBody>
      </p:sp>
      <p:sp>
        <p:nvSpPr>
          <p:cNvPr id="72" name="Google Shape;72;p15"/>
          <p:cNvSpPr txBox="1"/>
          <p:nvPr/>
        </p:nvSpPr>
        <p:spPr>
          <a:xfrm>
            <a:off x="446175" y="645900"/>
            <a:ext cx="859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E</a:t>
            </a:r>
            <a:r>
              <a:rPr b="1" lang="zh-CN" sz="1300">
                <a:solidFill>
                  <a:srgbClr val="343541"/>
                </a:solidFill>
                <a:latin typeface="Times"/>
                <a:ea typeface="Times"/>
                <a:cs typeface="Times"/>
                <a:sym typeface="Times"/>
              </a:rPr>
              <a:t>valuated the average GII rankings of each country globally across these features over a 13-year timeline, show the strengths and areas for enhancement for Canada’s innovation landscape.</a:t>
            </a:r>
            <a:endParaRPr b="1" sz="1300">
              <a:solidFill>
                <a:srgbClr val="343541"/>
              </a:solidFill>
              <a:latin typeface="Times"/>
              <a:ea typeface="Times"/>
              <a:cs typeface="Times"/>
              <a:sym typeface="Times"/>
            </a:endParaRPr>
          </a:p>
        </p:txBody>
      </p:sp>
      <p:cxnSp>
        <p:nvCxnSpPr>
          <p:cNvPr id="73" name="Google Shape;73;p15"/>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pic>
        <p:nvPicPr>
          <p:cNvPr id="74" name="Google Shape;74;p15"/>
          <p:cNvPicPr preferRelativeResize="0"/>
          <p:nvPr/>
        </p:nvPicPr>
        <p:blipFill>
          <a:blip r:embed="rId4">
            <a:alphaModFix/>
          </a:blip>
          <a:stretch>
            <a:fillRect/>
          </a:stretch>
        </p:blipFill>
        <p:spPr>
          <a:xfrm>
            <a:off x="4421551" y="1777845"/>
            <a:ext cx="4259306" cy="1371463"/>
          </a:xfrm>
          <a:prstGeom prst="rect">
            <a:avLst/>
          </a:prstGeom>
          <a:noFill/>
          <a:ln>
            <a:noFill/>
          </a:ln>
        </p:spPr>
      </p:pic>
      <p:sp>
        <p:nvSpPr>
          <p:cNvPr id="75" name="Google Shape;75;p15"/>
          <p:cNvSpPr txBox="1"/>
          <p:nvPr/>
        </p:nvSpPr>
        <p:spPr>
          <a:xfrm>
            <a:off x="3050957" y="2130124"/>
            <a:ext cx="11460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700">
                <a:solidFill>
                  <a:srgbClr val="374151"/>
                </a:solidFill>
                <a:latin typeface="Times"/>
                <a:ea typeface="Times"/>
                <a:cs typeface="Times"/>
                <a:sym typeface="Times"/>
              </a:rPr>
              <a:t>Strengths</a:t>
            </a:r>
            <a:endParaRPr b="1" sz="2300">
              <a:solidFill>
                <a:schemeClr val="dk2"/>
              </a:solidFill>
              <a:latin typeface="Times"/>
              <a:ea typeface="Times"/>
              <a:cs typeface="Times"/>
              <a:sym typeface="Times"/>
            </a:endParaRPr>
          </a:p>
        </p:txBody>
      </p:sp>
      <p:sp>
        <p:nvSpPr>
          <p:cNvPr id="76" name="Google Shape;76;p15"/>
          <p:cNvSpPr txBox="1"/>
          <p:nvPr/>
        </p:nvSpPr>
        <p:spPr>
          <a:xfrm>
            <a:off x="4625537" y="2561132"/>
            <a:ext cx="12990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500">
                <a:solidFill>
                  <a:srgbClr val="374151"/>
                </a:solidFill>
                <a:latin typeface="Times"/>
                <a:ea typeface="Times"/>
                <a:cs typeface="Times"/>
                <a:sym typeface="Times"/>
              </a:rPr>
              <a:t>Institutions</a:t>
            </a:r>
            <a:endParaRPr b="1" sz="2100">
              <a:solidFill>
                <a:schemeClr val="dk2"/>
              </a:solidFill>
              <a:latin typeface="Times"/>
              <a:ea typeface="Times"/>
              <a:cs typeface="Times"/>
              <a:sym typeface="Times"/>
            </a:endParaRPr>
          </a:p>
        </p:txBody>
      </p:sp>
      <p:sp>
        <p:nvSpPr>
          <p:cNvPr id="77" name="Google Shape;77;p15"/>
          <p:cNvSpPr txBox="1"/>
          <p:nvPr/>
        </p:nvSpPr>
        <p:spPr>
          <a:xfrm>
            <a:off x="4625516" y="1967100"/>
            <a:ext cx="3897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500">
                <a:solidFill>
                  <a:srgbClr val="374151"/>
                </a:solidFill>
                <a:latin typeface="Times"/>
                <a:ea typeface="Times"/>
                <a:cs typeface="Times"/>
                <a:sym typeface="Times"/>
              </a:rPr>
              <a:t>Market Sophistication</a:t>
            </a:r>
            <a:endParaRPr b="1" sz="2100">
              <a:solidFill>
                <a:schemeClr val="dk2"/>
              </a:solidFill>
              <a:latin typeface="Times"/>
              <a:ea typeface="Times"/>
              <a:cs typeface="Times"/>
              <a:sym typeface="Times"/>
            </a:endParaRPr>
          </a:p>
        </p:txBody>
      </p:sp>
      <p:sp>
        <p:nvSpPr>
          <p:cNvPr id="78" name="Google Shape;78;p15"/>
          <p:cNvSpPr txBox="1"/>
          <p:nvPr/>
        </p:nvSpPr>
        <p:spPr>
          <a:xfrm>
            <a:off x="7617674" y="1967089"/>
            <a:ext cx="823500" cy="4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800">
                <a:solidFill>
                  <a:srgbClr val="374151"/>
                </a:solidFill>
                <a:latin typeface="Times"/>
                <a:ea typeface="Times"/>
                <a:cs typeface="Times"/>
                <a:sym typeface="Times"/>
              </a:rPr>
              <a:t>4th</a:t>
            </a:r>
            <a:endParaRPr b="1" sz="2400">
              <a:solidFill>
                <a:schemeClr val="dk2"/>
              </a:solidFill>
              <a:latin typeface="Times"/>
              <a:ea typeface="Times"/>
              <a:cs typeface="Times"/>
              <a:sym typeface="Times"/>
            </a:endParaRPr>
          </a:p>
        </p:txBody>
      </p:sp>
      <p:sp>
        <p:nvSpPr>
          <p:cNvPr id="79" name="Google Shape;79;p15"/>
          <p:cNvSpPr txBox="1"/>
          <p:nvPr/>
        </p:nvSpPr>
        <p:spPr>
          <a:xfrm>
            <a:off x="7617674" y="2562213"/>
            <a:ext cx="823500" cy="4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800">
                <a:solidFill>
                  <a:srgbClr val="374151"/>
                </a:solidFill>
                <a:latin typeface="Times"/>
                <a:ea typeface="Times"/>
                <a:cs typeface="Times"/>
                <a:sym typeface="Times"/>
              </a:rPr>
              <a:t>6</a:t>
            </a:r>
            <a:r>
              <a:rPr b="1" lang="zh-CN" sz="1800">
                <a:solidFill>
                  <a:srgbClr val="374151"/>
                </a:solidFill>
                <a:latin typeface="Times"/>
                <a:ea typeface="Times"/>
                <a:cs typeface="Times"/>
                <a:sym typeface="Times"/>
              </a:rPr>
              <a:t>th</a:t>
            </a:r>
            <a:endParaRPr b="1" sz="2400">
              <a:solidFill>
                <a:schemeClr val="dk2"/>
              </a:solidFill>
              <a:latin typeface="Times"/>
              <a:ea typeface="Times"/>
              <a:cs typeface="Times"/>
              <a:sym typeface="Times"/>
            </a:endParaRPr>
          </a:p>
        </p:txBody>
      </p:sp>
      <p:sp>
        <p:nvSpPr>
          <p:cNvPr id="80" name="Google Shape;80;p15"/>
          <p:cNvSpPr txBox="1"/>
          <p:nvPr/>
        </p:nvSpPr>
        <p:spPr>
          <a:xfrm>
            <a:off x="2885650" y="3426128"/>
            <a:ext cx="1476600" cy="65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700">
                <a:solidFill>
                  <a:srgbClr val="374151"/>
                </a:solidFill>
                <a:latin typeface="Times"/>
                <a:ea typeface="Times"/>
                <a:cs typeface="Times"/>
                <a:sym typeface="Times"/>
              </a:rPr>
              <a:t>Areas for Improvement</a:t>
            </a:r>
            <a:endParaRPr b="1" sz="1800">
              <a:solidFill>
                <a:schemeClr val="dk2"/>
              </a:solidFill>
              <a:latin typeface="Times"/>
              <a:ea typeface="Times"/>
              <a:cs typeface="Times"/>
              <a:sym typeface="Times"/>
            </a:endParaRPr>
          </a:p>
        </p:txBody>
      </p:sp>
      <p:sp>
        <p:nvSpPr>
          <p:cNvPr id="81" name="Google Shape;81;p15"/>
          <p:cNvSpPr txBox="1"/>
          <p:nvPr/>
        </p:nvSpPr>
        <p:spPr>
          <a:xfrm>
            <a:off x="7535318" y="1347575"/>
            <a:ext cx="988200" cy="42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700">
                <a:solidFill>
                  <a:srgbClr val="374151"/>
                </a:solidFill>
                <a:latin typeface="Times"/>
                <a:ea typeface="Times"/>
                <a:cs typeface="Times"/>
                <a:sym typeface="Times"/>
              </a:rPr>
              <a:t>Rank</a:t>
            </a:r>
            <a:endParaRPr b="1" sz="2300">
              <a:solidFill>
                <a:schemeClr val="dk2"/>
              </a:solidFill>
              <a:latin typeface="Times"/>
              <a:ea typeface="Times"/>
              <a:cs typeface="Times"/>
              <a:sym typeface="Times"/>
            </a:endParaRPr>
          </a:p>
        </p:txBody>
      </p:sp>
      <p:pic>
        <p:nvPicPr>
          <p:cNvPr id="82" name="Google Shape;82;p15"/>
          <p:cNvPicPr preferRelativeResize="0"/>
          <p:nvPr/>
        </p:nvPicPr>
        <p:blipFill>
          <a:blip r:embed="rId5">
            <a:alphaModFix/>
          </a:blip>
          <a:stretch>
            <a:fillRect/>
          </a:stretch>
        </p:blipFill>
        <p:spPr>
          <a:xfrm>
            <a:off x="4421550" y="3259300"/>
            <a:ext cx="4259300" cy="1371475"/>
          </a:xfrm>
          <a:prstGeom prst="rect">
            <a:avLst/>
          </a:prstGeom>
          <a:noFill/>
          <a:ln>
            <a:noFill/>
          </a:ln>
        </p:spPr>
      </p:pic>
      <p:sp>
        <p:nvSpPr>
          <p:cNvPr id="83" name="Google Shape;83;p15"/>
          <p:cNvSpPr txBox="1"/>
          <p:nvPr/>
        </p:nvSpPr>
        <p:spPr>
          <a:xfrm>
            <a:off x="5017751" y="1365358"/>
            <a:ext cx="1084500" cy="38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700">
                <a:solidFill>
                  <a:srgbClr val="374151"/>
                </a:solidFill>
                <a:latin typeface="Times"/>
                <a:ea typeface="Times"/>
                <a:cs typeface="Times"/>
                <a:sym typeface="Times"/>
              </a:rPr>
              <a:t>Features</a:t>
            </a:r>
            <a:endParaRPr b="1" sz="2300">
              <a:solidFill>
                <a:schemeClr val="dk2"/>
              </a:solidFill>
              <a:latin typeface="Times"/>
              <a:ea typeface="Times"/>
              <a:cs typeface="Times"/>
              <a:sym typeface="Times"/>
            </a:endParaRPr>
          </a:p>
        </p:txBody>
      </p:sp>
      <p:sp>
        <p:nvSpPr>
          <p:cNvPr id="84" name="Google Shape;84;p15"/>
          <p:cNvSpPr txBox="1"/>
          <p:nvPr/>
        </p:nvSpPr>
        <p:spPr>
          <a:xfrm>
            <a:off x="4628324" y="3452725"/>
            <a:ext cx="3897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500">
                <a:solidFill>
                  <a:srgbClr val="374151"/>
                </a:solidFill>
                <a:latin typeface="Times"/>
                <a:ea typeface="Times"/>
                <a:cs typeface="Times"/>
                <a:sym typeface="Times"/>
              </a:rPr>
              <a:t>Human Capital &amp; Research</a:t>
            </a:r>
            <a:endParaRPr b="1" sz="1500">
              <a:solidFill>
                <a:srgbClr val="374151"/>
              </a:solidFill>
              <a:latin typeface="Times"/>
              <a:ea typeface="Times"/>
              <a:cs typeface="Times"/>
              <a:sym typeface="Times"/>
            </a:endParaRPr>
          </a:p>
        </p:txBody>
      </p:sp>
      <p:sp>
        <p:nvSpPr>
          <p:cNvPr id="85" name="Google Shape;85;p15"/>
          <p:cNvSpPr txBox="1"/>
          <p:nvPr/>
        </p:nvSpPr>
        <p:spPr>
          <a:xfrm>
            <a:off x="4628327" y="4000441"/>
            <a:ext cx="3434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500">
                <a:solidFill>
                  <a:srgbClr val="374151"/>
                </a:solidFill>
                <a:latin typeface="Times"/>
                <a:ea typeface="Times"/>
                <a:cs typeface="Times"/>
                <a:sym typeface="Times"/>
              </a:rPr>
              <a:t>Knowledge &amp; Technology Outputs</a:t>
            </a:r>
            <a:endParaRPr/>
          </a:p>
        </p:txBody>
      </p:sp>
      <p:sp>
        <p:nvSpPr>
          <p:cNvPr id="86" name="Google Shape;86;p15"/>
          <p:cNvSpPr txBox="1"/>
          <p:nvPr/>
        </p:nvSpPr>
        <p:spPr>
          <a:xfrm>
            <a:off x="7725045" y="3426128"/>
            <a:ext cx="823500" cy="4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800">
                <a:solidFill>
                  <a:srgbClr val="374151"/>
                </a:solidFill>
                <a:latin typeface="Times"/>
                <a:ea typeface="Times"/>
                <a:cs typeface="Times"/>
                <a:sym typeface="Times"/>
              </a:rPr>
              <a:t>19</a:t>
            </a:r>
            <a:r>
              <a:rPr b="1" lang="zh-CN" sz="1800">
                <a:solidFill>
                  <a:srgbClr val="374151"/>
                </a:solidFill>
                <a:latin typeface="Times"/>
                <a:ea typeface="Times"/>
                <a:cs typeface="Times"/>
                <a:sym typeface="Times"/>
              </a:rPr>
              <a:t>th</a:t>
            </a:r>
            <a:endParaRPr b="1" sz="2400">
              <a:solidFill>
                <a:schemeClr val="dk2"/>
              </a:solidFill>
              <a:latin typeface="Times"/>
              <a:ea typeface="Times"/>
              <a:cs typeface="Times"/>
              <a:sym typeface="Times"/>
            </a:endParaRPr>
          </a:p>
        </p:txBody>
      </p:sp>
      <p:sp>
        <p:nvSpPr>
          <p:cNvPr id="87" name="Google Shape;87;p15"/>
          <p:cNvSpPr txBox="1"/>
          <p:nvPr/>
        </p:nvSpPr>
        <p:spPr>
          <a:xfrm>
            <a:off x="7725059" y="3969991"/>
            <a:ext cx="823500" cy="4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800">
                <a:solidFill>
                  <a:srgbClr val="374151"/>
                </a:solidFill>
                <a:latin typeface="Times"/>
                <a:ea typeface="Times"/>
                <a:cs typeface="Times"/>
                <a:sym typeface="Times"/>
              </a:rPr>
              <a:t>21</a:t>
            </a:r>
            <a:r>
              <a:rPr b="1" lang="zh-CN" sz="1800">
                <a:solidFill>
                  <a:srgbClr val="374151"/>
                </a:solidFill>
                <a:latin typeface="Times"/>
                <a:ea typeface="Times"/>
                <a:cs typeface="Times"/>
                <a:sym typeface="Times"/>
              </a:rPr>
              <a:t>th</a:t>
            </a:r>
            <a:endParaRPr b="1" sz="2400">
              <a:solidFill>
                <a:schemeClr val="dk2"/>
              </a:solidFill>
              <a:latin typeface="Times"/>
              <a:ea typeface="Times"/>
              <a:cs typeface="Times"/>
              <a:sym typeface="Times"/>
            </a:endParaRPr>
          </a:p>
        </p:txBody>
      </p:sp>
      <p:sp>
        <p:nvSpPr>
          <p:cNvPr id="88" name="Google Shape;88;p15"/>
          <p:cNvSpPr/>
          <p:nvPr/>
        </p:nvSpPr>
        <p:spPr>
          <a:xfrm rot="-1352549">
            <a:off x="2457563" y="2372557"/>
            <a:ext cx="512562" cy="294277"/>
          </a:xfrm>
          <a:prstGeom prst="rightArrow">
            <a:avLst>
              <a:gd fmla="val 50000" name="adj1"/>
              <a:gd fmla="val 50000" name="adj2"/>
            </a:avLst>
          </a:prstGeom>
          <a:solidFill>
            <a:srgbClr val="6FA8DC"/>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5"/>
          <p:cNvSpPr/>
          <p:nvPr/>
        </p:nvSpPr>
        <p:spPr>
          <a:xfrm rot="1912005">
            <a:off x="2412219" y="3499126"/>
            <a:ext cx="512553" cy="294277"/>
          </a:xfrm>
          <a:prstGeom prst="rightArrow">
            <a:avLst>
              <a:gd fmla="val 50000" name="adj1"/>
              <a:gd fmla="val 50000" name="adj2"/>
            </a:avLst>
          </a:prstGeom>
          <a:solidFill>
            <a:srgbClr val="6FA8DC"/>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txBox="1"/>
          <p:nvPr/>
        </p:nvSpPr>
        <p:spPr>
          <a:xfrm>
            <a:off x="1048450" y="2704913"/>
            <a:ext cx="1476600" cy="7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2000">
                <a:solidFill>
                  <a:srgbClr val="1C4587"/>
                </a:solidFill>
                <a:latin typeface="Times"/>
                <a:ea typeface="Times"/>
                <a:cs typeface="Times"/>
                <a:sym typeface="Times"/>
              </a:rPr>
              <a:t>Canada Innovation</a:t>
            </a:r>
            <a:endParaRPr b="1" sz="2000">
              <a:solidFill>
                <a:srgbClr val="1C4587"/>
              </a:solidFill>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Average GII Rankings over 13 Years</a:t>
            </a:r>
            <a:endParaRPr b="1">
              <a:solidFill>
                <a:srgbClr val="1C4587"/>
              </a:solidFill>
              <a:latin typeface="Times"/>
              <a:ea typeface="Times"/>
              <a:cs typeface="Times"/>
              <a:sym typeface="Times"/>
            </a:endParaRPr>
          </a:p>
        </p:txBody>
      </p:sp>
      <p:sp>
        <p:nvSpPr>
          <p:cNvPr id="96" name="Google Shape;96;p16"/>
          <p:cNvSpPr txBox="1"/>
          <p:nvPr/>
        </p:nvSpPr>
        <p:spPr>
          <a:xfrm>
            <a:off x="446175" y="645900"/>
            <a:ext cx="859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Evaluated the average GII rankings of each country globally across these features over a 13-year timeline, show the strengths and areas for enhancement for Canada’s innovation landscape.</a:t>
            </a:r>
            <a:endParaRPr b="1" sz="1300">
              <a:solidFill>
                <a:srgbClr val="343541"/>
              </a:solidFill>
              <a:latin typeface="Times"/>
              <a:ea typeface="Times"/>
              <a:cs typeface="Times"/>
              <a:sym typeface="Times"/>
            </a:endParaRPr>
          </a:p>
        </p:txBody>
      </p:sp>
      <p:cxnSp>
        <p:nvCxnSpPr>
          <p:cNvPr id="97" name="Google Shape;97;p16"/>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98" name="Google Shape;98;p16"/>
          <p:cNvSpPr txBox="1"/>
          <p:nvPr/>
        </p:nvSpPr>
        <p:spPr>
          <a:xfrm>
            <a:off x="477975" y="4223250"/>
            <a:ext cx="8383200" cy="791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i="1" lang="zh-CN" sz="1200">
                <a:solidFill>
                  <a:srgbClr val="073763"/>
                </a:solidFill>
                <a:latin typeface="Times"/>
                <a:ea typeface="Times"/>
                <a:cs typeface="Times"/>
                <a:sym typeface="Times"/>
              </a:rPr>
              <a:t>Comparison</a:t>
            </a:r>
            <a:r>
              <a:rPr b="1" i="1" lang="zh-CN" sz="1200">
                <a:solidFill>
                  <a:srgbClr val="073763"/>
                </a:solidFill>
                <a:latin typeface="Times"/>
                <a:ea typeface="Times"/>
                <a:cs typeface="Times"/>
                <a:sym typeface="Times"/>
              </a:rPr>
              <a:t> Analysis</a:t>
            </a:r>
            <a:r>
              <a:rPr b="1" lang="zh-CN" sz="1200">
                <a:solidFill>
                  <a:schemeClr val="dk1"/>
                </a:solidFill>
                <a:latin typeface="Times"/>
                <a:ea typeface="Times"/>
                <a:cs typeface="Times"/>
                <a:sym typeface="Times"/>
              </a:rPr>
              <a:t>: </a:t>
            </a:r>
            <a:r>
              <a:rPr lang="zh-CN" sz="1200">
                <a:solidFill>
                  <a:schemeClr val="dk1"/>
                </a:solidFill>
                <a:latin typeface="Times"/>
                <a:ea typeface="Times"/>
                <a:cs typeface="Times"/>
                <a:sym typeface="Times"/>
              </a:rPr>
              <a:t>T</a:t>
            </a:r>
            <a:r>
              <a:rPr lang="zh-CN" sz="1200">
                <a:solidFill>
                  <a:schemeClr val="dk1"/>
                </a:solidFill>
                <a:latin typeface="Times"/>
                <a:ea typeface="Times"/>
                <a:cs typeface="Times"/>
                <a:sym typeface="Times"/>
              </a:rPr>
              <a:t>he UK, Singapore, USA, Switzerland, and Japan - we identified countries that Canada can enhance its performance to align with global innovation leaders. Notably, Human Capital and Research and Knowledge and Technology Outputs require attention, as these domains consistently achieve higher average rankings in the other five countries.</a:t>
            </a:r>
            <a:endParaRPr sz="1800">
              <a:solidFill>
                <a:schemeClr val="dk1"/>
              </a:solidFill>
              <a:latin typeface="Times"/>
              <a:ea typeface="Times"/>
              <a:cs typeface="Times"/>
              <a:sym typeface="Times"/>
            </a:endParaRPr>
          </a:p>
        </p:txBody>
      </p:sp>
      <p:pic>
        <p:nvPicPr>
          <p:cNvPr id="99" name="Google Shape;99;p16"/>
          <p:cNvPicPr preferRelativeResize="0"/>
          <p:nvPr/>
        </p:nvPicPr>
        <p:blipFill>
          <a:blip r:embed="rId3">
            <a:alphaModFix/>
          </a:blip>
          <a:stretch>
            <a:fillRect/>
          </a:stretch>
        </p:blipFill>
        <p:spPr>
          <a:xfrm>
            <a:off x="2560125" y="1113650"/>
            <a:ext cx="3603300" cy="3071374"/>
          </a:xfrm>
          <a:prstGeom prst="rect">
            <a:avLst/>
          </a:prstGeom>
          <a:noFill/>
          <a:ln>
            <a:noFill/>
          </a:ln>
        </p:spPr>
      </p:pic>
      <p:pic>
        <p:nvPicPr>
          <p:cNvPr id="100" name="Google Shape;100;p16"/>
          <p:cNvPicPr preferRelativeResize="0"/>
          <p:nvPr/>
        </p:nvPicPr>
        <p:blipFill>
          <a:blip r:embed="rId4">
            <a:alphaModFix/>
          </a:blip>
          <a:stretch>
            <a:fillRect/>
          </a:stretch>
        </p:blipFill>
        <p:spPr>
          <a:xfrm>
            <a:off x="6087225" y="1252875"/>
            <a:ext cx="2782194" cy="2727899"/>
          </a:xfrm>
          <a:prstGeom prst="rect">
            <a:avLst/>
          </a:prstGeom>
          <a:noFill/>
          <a:ln>
            <a:noFill/>
          </a:ln>
        </p:spPr>
      </p:pic>
      <p:graphicFrame>
        <p:nvGraphicFramePr>
          <p:cNvPr id="101" name="Google Shape;101;p16"/>
          <p:cNvGraphicFramePr/>
          <p:nvPr/>
        </p:nvGraphicFramePr>
        <p:xfrm>
          <a:off x="319350" y="1207800"/>
          <a:ext cx="3000000" cy="3000000"/>
        </p:xfrm>
        <a:graphic>
          <a:graphicData uri="http://schemas.openxmlformats.org/drawingml/2006/table">
            <a:tbl>
              <a:tblPr>
                <a:noFill/>
                <a:tableStyleId>{FF8FEB33-2D82-48AA-A10A-3A5789565198}</a:tableStyleId>
              </a:tblPr>
              <a:tblGrid>
                <a:gridCol w="1009400"/>
                <a:gridCol w="1200800"/>
              </a:tblGrid>
              <a:tr h="381000">
                <a:tc>
                  <a:txBody>
                    <a:bodyPr/>
                    <a:lstStyle/>
                    <a:p>
                      <a:pPr indent="0" lvl="0" marL="0" rtl="0" algn="ctr">
                        <a:spcBef>
                          <a:spcPts val="0"/>
                        </a:spcBef>
                        <a:spcAft>
                          <a:spcPts val="0"/>
                        </a:spcAft>
                        <a:buNone/>
                      </a:pPr>
                      <a:r>
                        <a:rPr b="1" lang="zh-CN" sz="1000">
                          <a:latin typeface="Times"/>
                          <a:ea typeface="Times"/>
                          <a:cs typeface="Times"/>
                          <a:sym typeface="Times"/>
                        </a:rPr>
                        <a:t>Country</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Average </a:t>
                      </a:r>
                      <a:r>
                        <a:rPr b="1" lang="zh-CN" sz="1000">
                          <a:latin typeface="Times"/>
                          <a:ea typeface="Times"/>
                          <a:cs typeface="Times"/>
                          <a:sym typeface="Times"/>
                        </a:rPr>
                        <a:t>Global Innovation Index</a:t>
                      </a:r>
                      <a:endParaRPr b="1" sz="1000">
                        <a:latin typeface="Times"/>
                        <a:ea typeface="Times"/>
                        <a:cs typeface="Times"/>
                        <a:sym typeface="Times"/>
                      </a:endParaRPr>
                    </a:p>
                  </a:txBody>
                  <a:tcPr marT="91425" marB="91425" marR="91425" marL="91425"/>
                </a:tc>
              </a:tr>
              <a:tr h="381000">
                <a:tc>
                  <a:txBody>
                    <a:bodyPr/>
                    <a:lstStyle/>
                    <a:p>
                      <a:pPr indent="0" lvl="0" marL="0" rtl="0" algn="ctr">
                        <a:spcBef>
                          <a:spcPts val="0"/>
                        </a:spcBef>
                        <a:spcAft>
                          <a:spcPts val="0"/>
                        </a:spcAft>
                        <a:buNone/>
                      </a:pPr>
                      <a:r>
                        <a:rPr b="1" lang="zh-CN" sz="1100">
                          <a:latin typeface="Times"/>
                          <a:ea typeface="Times"/>
                          <a:cs typeface="Times"/>
                          <a:sym typeface="Times"/>
                        </a:rPr>
                        <a:t>Canada</a:t>
                      </a:r>
                      <a:endParaRPr b="1" sz="1100">
                        <a:latin typeface="Times"/>
                        <a:ea typeface="Times"/>
                        <a:cs typeface="Times"/>
                        <a:sym typeface="Times"/>
                      </a:endParaRPr>
                    </a:p>
                  </a:txBody>
                  <a:tcPr marT="91425" marB="91425" marR="91425" marL="91425">
                    <a:solidFill>
                      <a:srgbClr val="CFE2F3"/>
                    </a:solidFill>
                  </a:tcPr>
                </a:tc>
                <a:tc>
                  <a:txBody>
                    <a:bodyPr/>
                    <a:lstStyle/>
                    <a:p>
                      <a:pPr indent="0" lvl="0" marL="0" rtl="0" algn="ctr">
                        <a:spcBef>
                          <a:spcPts val="0"/>
                        </a:spcBef>
                        <a:spcAft>
                          <a:spcPts val="0"/>
                        </a:spcAft>
                        <a:buNone/>
                      </a:pPr>
                      <a:r>
                        <a:rPr b="1" lang="zh-CN" sz="1100">
                          <a:latin typeface="Times"/>
                          <a:ea typeface="Times"/>
                          <a:cs typeface="Times"/>
                          <a:sym typeface="Times"/>
                        </a:rPr>
                        <a:t>14.62</a:t>
                      </a:r>
                      <a:endParaRPr b="1" sz="1100">
                        <a:latin typeface="Times"/>
                        <a:ea typeface="Times"/>
                        <a:cs typeface="Times"/>
                        <a:sym typeface="Times"/>
                      </a:endParaRPr>
                    </a:p>
                  </a:txBody>
                  <a:tcPr marT="91425" marB="91425" marR="91425" marL="91425">
                    <a:solidFill>
                      <a:srgbClr val="CFE2F3"/>
                    </a:solidFill>
                  </a:tcPr>
                </a:tc>
              </a:tr>
              <a:tr h="381000">
                <a:tc>
                  <a:txBody>
                    <a:bodyPr/>
                    <a:lstStyle/>
                    <a:p>
                      <a:pPr indent="0" lvl="0" marL="0" rtl="0" algn="ctr">
                        <a:spcBef>
                          <a:spcPts val="0"/>
                        </a:spcBef>
                        <a:spcAft>
                          <a:spcPts val="0"/>
                        </a:spcAft>
                        <a:buNone/>
                      </a:pPr>
                      <a:r>
                        <a:rPr b="1" lang="zh-CN" sz="1000">
                          <a:latin typeface="Times"/>
                          <a:ea typeface="Times"/>
                          <a:cs typeface="Times"/>
                          <a:sym typeface="Times"/>
                        </a:rPr>
                        <a:t>Japan</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16.92</a:t>
                      </a:r>
                      <a:endParaRPr b="1" sz="1000">
                        <a:latin typeface="Times"/>
                        <a:ea typeface="Times"/>
                        <a:cs typeface="Times"/>
                        <a:sym typeface="Times"/>
                      </a:endParaRPr>
                    </a:p>
                  </a:txBody>
                  <a:tcPr marT="91425" marB="91425" marR="91425" marL="91425"/>
                </a:tc>
              </a:tr>
              <a:tr h="381000">
                <a:tc>
                  <a:txBody>
                    <a:bodyPr/>
                    <a:lstStyle/>
                    <a:p>
                      <a:pPr indent="0" lvl="0" marL="0" rtl="0" algn="ctr">
                        <a:spcBef>
                          <a:spcPts val="0"/>
                        </a:spcBef>
                        <a:spcAft>
                          <a:spcPts val="0"/>
                        </a:spcAft>
                        <a:buNone/>
                      </a:pPr>
                      <a:r>
                        <a:rPr b="1" lang="zh-CN" sz="1000">
                          <a:latin typeface="Times"/>
                          <a:ea typeface="Times"/>
                          <a:cs typeface="Times"/>
                          <a:sym typeface="Times"/>
                        </a:rPr>
                        <a:t>Singapore</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6.31</a:t>
                      </a:r>
                      <a:endParaRPr b="1" sz="1000">
                        <a:latin typeface="Times"/>
                        <a:ea typeface="Times"/>
                        <a:cs typeface="Times"/>
                        <a:sym typeface="Times"/>
                      </a:endParaRPr>
                    </a:p>
                  </a:txBody>
                  <a:tcPr marT="91425" marB="91425" marR="91425" marL="91425"/>
                </a:tc>
              </a:tr>
              <a:tr h="381000">
                <a:tc>
                  <a:txBody>
                    <a:bodyPr/>
                    <a:lstStyle/>
                    <a:p>
                      <a:pPr indent="0" lvl="0" marL="0" rtl="0" algn="ctr">
                        <a:spcBef>
                          <a:spcPts val="0"/>
                        </a:spcBef>
                        <a:spcAft>
                          <a:spcPts val="0"/>
                        </a:spcAft>
                        <a:buNone/>
                      </a:pPr>
                      <a:r>
                        <a:rPr b="1" lang="zh-CN" sz="1000">
                          <a:latin typeface="Times"/>
                          <a:ea typeface="Times"/>
                          <a:cs typeface="Times"/>
                          <a:sym typeface="Times"/>
                        </a:rPr>
                        <a:t>Switzerland</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1.00</a:t>
                      </a:r>
                      <a:endParaRPr b="1" sz="1000">
                        <a:latin typeface="Times"/>
                        <a:ea typeface="Times"/>
                        <a:cs typeface="Times"/>
                        <a:sym typeface="Times"/>
                      </a:endParaRPr>
                    </a:p>
                  </a:txBody>
                  <a:tcPr marT="91425" marB="91425" marR="91425" marL="91425"/>
                </a:tc>
              </a:tr>
              <a:tr h="381000">
                <a:tc>
                  <a:txBody>
                    <a:bodyPr/>
                    <a:lstStyle/>
                    <a:p>
                      <a:pPr indent="0" lvl="0" marL="0" rtl="0" algn="ctr">
                        <a:spcBef>
                          <a:spcPts val="0"/>
                        </a:spcBef>
                        <a:spcAft>
                          <a:spcPts val="0"/>
                        </a:spcAft>
                        <a:buNone/>
                      </a:pPr>
                      <a:r>
                        <a:rPr b="1" lang="zh-CN" sz="1000">
                          <a:latin typeface="Times"/>
                          <a:ea typeface="Times"/>
                          <a:cs typeface="Times"/>
                          <a:sym typeface="Times"/>
                        </a:rPr>
                        <a:t>UK</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4.23</a:t>
                      </a:r>
                      <a:endParaRPr b="1" sz="1000">
                        <a:latin typeface="Times"/>
                        <a:ea typeface="Times"/>
                        <a:cs typeface="Times"/>
                        <a:sym typeface="Times"/>
                      </a:endParaRPr>
                    </a:p>
                  </a:txBody>
                  <a:tcPr marT="91425" marB="91425" marR="91425" marL="91425"/>
                </a:tc>
              </a:tr>
              <a:tr h="268825">
                <a:tc>
                  <a:txBody>
                    <a:bodyPr/>
                    <a:lstStyle/>
                    <a:p>
                      <a:pPr indent="0" lvl="0" marL="0" rtl="0" algn="ctr">
                        <a:spcBef>
                          <a:spcPts val="0"/>
                        </a:spcBef>
                        <a:spcAft>
                          <a:spcPts val="0"/>
                        </a:spcAft>
                        <a:buNone/>
                      </a:pPr>
                      <a:r>
                        <a:rPr b="1" lang="zh-CN" sz="1000">
                          <a:latin typeface="Times"/>
                          <a:ea typeface="Times"/>
                          <a:cs typeface="Times"/>
                          <a:sym typeface="Times"/>
                        </a:rPr>
                        <a:t>USA</a:t>
                      </a:r>
                      <a:endParaRPr b="1" sz="1000">
                        <a:latin typeface="Times"/>
                        <a:ea typeface="Times"/>
                        <a:cs typeface="Times"/>
                        <a:sym typeface="Times"/>
                      </a:endParaRPr>
                    </a:p>
                  </a:txBody>
                  <a:tcPr marT="91425" marB="91425" marR="91425" marL="91425"/>
                </a:tc>
                <a:tc>
                  <a:txBody>
                    <a:bodyPr/>
                    <a:lstStyle/>
                    <a:p>
                      <a:pPr indent="0" lvl="0" marL="0" rtl="0" algn="ctr">
                        <a:spcBef>
                          <a:spcPts val="0"/>
                        </a:spcBef>
                        <a:spcAft>
                          <a:spcPts val="0"/>
                        </a:spcAft>
                        <a:buNone/>
                      </a:pPr>
                      <a:r>
                        <a:rPr b="1" lang="zh-CN" sz="1000">
                          <a:latin typeface="Times"/>
                          <a:ea typeface="Times"/>
                          <a:cs typeface="Times"/>
                          <a:sym typeface="Times"/>
                        </a:rPr>
                        <a:t>4.69</a:t>
                      </a:r>
                      <a:endParaRPr b="1" sz="1000">
                        <a:latin typeface="Times"/>
                        <a:ea typeface="Times"/>
                        <a:cs typeface="Times"/>
                        <a:sym typeface="Times"/>
                      </a:endParaRPr>
                    </a:p>
                  </a:txBody>
                  <a:tcPr marT="91425" marB="91425" marR="91425" marL="91425"/>
                </a:tc>
              </a:tr>
            </a:tbl>
          </a:graphicData>
        </a:graphic>
      </p:graphicFrame>
      <p:sp>
        <p:nvSpPr>
          <p:cNvPr id="102" name="Google Shape;102;p16"/>
          <p:cNvSpPr/>
          <p:nvPr/>
        </p:nvSpPr>
        <p:spPr>
          <a:xfrm>
            <a:off x="3928525" y="2505325"/>
            <a:ext cx="189900" cy="199200"/>
          </a:xfrm>
          <a:prstGeom prst="star5">
            <a:avLst>
              <a:gd fmla="val 19098" name="adj"/>
              <a:gd fmla="val 105146" name="hf"/>
              <a:gd fmla="val 110557" name="vf"/>
            </a:avLst>
          </a:prstGeom>
          <a:solidFill>
            <a:srgbClr val="6D9EEB"/>
          </a:solidFill>
          <a:ln cap="flat" cmpd="sng" w="952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nvSpPr>
        <p:spPr>
          <a:xfrm>
            <a:off x="5266875" y="1572175"/>
            <a:ext cx="3321600" cy="670500"/>
          </a:xfrm>
          <a:prstGeom prst="rect">
            <a:avLst/>
          </a:prstGeom>
          <a:solidFill>
            <a:srgbClr val="CFE2F3"/>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zh-CN" sz="1500">
                <a:solidFill>
                  <a:schemeClr val="dk1"/>
                </a:solidFill>
                <a:latin typeface="Times"/>
                <a:ea typeface="Times"/>
                <a:cs typeface="Times"/>
                <a:sym typeface="Times"/>
              </a:rPr>
              <a:t>Switzerland</a:t>
            </a:r>
            <a:r>
              <a:rPr lang="zh-CN" sz="1500">
                <a:solidFill>
                  <a:schemeClr val="dk1"/>
                </a:solidFill>
                <a:latin typeface="Times"/>
                <a:ea typeface="Times"/>
                <a:cs typeface="Times"/>
                <a:sym typeface="Times"/>
              </a:rPr>
              <a:t> consistently ranking first in Knowledge and Technology Outputs.</a:t>
            </a:r>
            <a:endParaRPr sz="1500">
              <a:solidFill>
                <a:schemeClr val="dk1"/>
              </a:solidFill>
              <a:latin typeface="Roboto"/>
              <a:ea typeface="Roboto"/>
              <a:cs typeface="Roboto"/>
              <a:sym typeface="Roboto"/>
            </a:endParaRPr>
          </a:p>
        </p:txBody>
      </p:sp>
      <p:pic>
        <p:nvPicPr>
          <p:cNvPr id="108" name="Google Shape;108;p17"/>
          <p:cNvPicPr preferRelativeResize="0"/>
          <p:nvPr/>
        </p:nvPicPr>
        <p:blipFill>
          <a:blip r:embed="rId3">
            <a:alphaModFix/>
          </a:blip>
          <a:stretch>
            <a:fillRect/>
          </a:stretch>
        </p:blipFill>
        <p:spPr>
          <a:xfrm>
            <a:off x="409275" y="1148250"/>
            <a:ext cx="4696275" cy="3475900"/>
          </a:xfrm>
          <a:prstGeom prst="rect">
            <a:avLst/>
          </a:prstGeom>
          <a:noFill/>
          <a:ln>
            <a:noFill/>
          </a:ln>
        </p:spPr>
      </p:pic>
      <p:sp>
        <p:nvSpPr>
          <p:cNvPr id="109" name="Google Shape;109;p17"/>
          <p:cNvSpPr txBox="1"/>
          <p:nvPr>
            <p:ph type="title"/>
          </p:nvPr>
        </p:nvSpPr>
        <p:spPr>
          <a:xfrm>
            <a:off x="409275" y="169850"/>
            <a:ext cx="859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Comparative Analysis of Innovation Strengths</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p:txBody>
      </p:sp>
      <p:sp>
        <p:nvSpPr>
          <p:cNvPr id="110" name="Google Shape;110;p17"/>
          <p:cNvSpPr txBox="1"/>
          <p:nvPr/>
        </p:nvSpPr>
        <p:spPr>
          <a:xfrm>
            <a:off x="409275" y="645900"/>
            <a:ext cx="8599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A </a:t>
            </a:r>
            <a:r>
              <a:rPr b="1" lang="zh-CN" sz="1300">
                <a:solidFill>
                  <a:srgbClr val="343541"/>
                </a:solidFill>
                <a:latin typeface="Times"/>
                <a:ea typeface="Times"/>
                <a:cs typeface="Times"/>
                <a:sym typeface="Times"/>
              </a:rPr>
              <a:t>radar chart to visually represent and compare the key innovation strengths of six countries.</a:t>
            </a:r>
            <a:endParaRPr b="1" sz="1300">
              <a:solidFill>
                <a:srgbClr val="343541"/>
              </a:solidFill>
              <a:latin typeface="Times"/>
              <a:ea typeface="Times"/>
              <a:cs typeface="Times"/>
              <a:sym typeface="Times"/>
            </a:endParaRPr>
          </a:p>
        </p:txBody>
      </p:sp>
      <p:cxnSp>
        <p:nvCxnSpPr>
          <p:cNvPr id="111" name="Google Shape;111;p17"/>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112" name="Google Shape;112;p17"/>
          <p:cNvSpPr txBox="1"/>
          <p:nvPr/>
        </p:nvSpPr>
        <p:spPr>
          <a:xfrm>
            <a:off x="5266875" y="2624100"/>
            <a:ext cx="3741600" cy="415500"/>
          </a:xfrm>
          <a:prstGeom prst="rect">
            <a:avLst/>
          </a:prstGeom>
          <a:solidFill>
            <a:srgbClr val="EAD1DC"/>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CN" sz="1500">
                <a:solidFill>
                  <a:schemeClr val="dk1"/>
                </a:solidFill>
                <a:latin typeface="Times"/>
                <a:ea typeface="Times"/>
                <a:cs typeface="Times"/>
                <a:sym typeface="Times"/>
              </a:rPr>
              <a:t>The </a:t>
            </a:r>
            <a:r>
              <a:rPr b="1" lang="zh-CN" sz="1500">
                <a:solidFill>
                  <a:schemeClr val="dk1"/>
                </a:solidFill>
                <a:latin typeface="Times"/>
                <a:ea typeface="Times"/>
                <a:cs typeface="Times"/>
                <a:sym typeface="Times"/>
              </a:rPr>
              <a:t>USA</a:t>
            </a:r>
            <a:r>
              <a:rPr lang="zh-CN" sz="1500">
                <a:solidFill>
                  <a:schemeClr val="dk1"/>
                </a:solidFill>
                <a:latin typeface="Times"/>
                <a:ea typeface="Times"/>
                <a:cs typeface="Times"/>
                <a:sym typeface="Times"/>
              </a:rPr>
              <a:t> excelled in ‘Market Sophistication’.</a:t>
            </a:r>
            <a:endParaRPr sz="1500">
              <a:solidFill>
                <a:schemeClr val="dk1"/>
              </a:solidFill>
              <a:latin typeface="Roboto"/>
              <a:ea typeface="Roboto"/>
              <a:cs typeface="Roboto"/>
              <a:sym typeface="Roboto"/>
            </a:endParaRPr>
          </a:p>
        </p:txBody>
      </p:sp>
      <p:sp>
        <p:nvSpPr>
          <p:cNvPr id="113" name="Google Shape;113;p17"/>
          <p:cNvSpPr txBox="1"/>
          <p:nvPr/>
        </p:nvSpPr>
        <p:spPr>
          <a:xfrm>
            <a:off x="5266875" y="3266225"/>
            <a:ext cx="3581100" cy="877200"/>
          </a:xfrm>
          <a:prstGeom prst="rect">
            <a:avLst/>
          </a:prstGeom>
          <a:solidFill>
            <a:srgbClr val="D9EAD3"/>
          </a:solidFill>
          <a:ln cap="flat" cmpd="sng" w="9525">
            <a:solidFill>
              <a:srgbClr val="000000"/>
            </a:solidFill>
            <a:prstDash val="dash"/>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b="1" lang="zh-CN" sz="1500">
                <a:solidFill>
                  <a:schemeClr val="dk1"/>
                </a:solidFill>
                <a:latin typeface="Times"/>
                <a:ea typeface="Times"/>
                <a:cs typeface="Times"/>
                <a:sym typeface="Times"/>
              </a:rPr>
              <a:t>Singapore</a:t>
            </a:r>
            <a:r>
              <a:rPr lang="zh-CN" sz="1500">
                <a:solidFill>
                  <a:schemeClr val="dk1"/>
                </a:solidFill>
                <a:latin typeface="Times"/>
                <a:ea typeface="Times"/>
                <a:cs typeface="Times"/>
                <a:sym typeface="Times"/>
              </a:rPr>
              <a:t> demonstrated strength in ‘Human Capital and Research’, ‘Business Sophistication’, and ‘Institutions’.</a:t>
            </a:r>
            <a:endParaRPr sz="15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18"/>
          <p:cNvSpPr txBox="1"/>
          <p:nvPr/>
        </p:nvSpPr>
        <p:spPr>
          <a:xfrm>
            <a:off x="1734325" y="1786150"/>
            <a:ext cx="5785800" cy="6156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zh-CN" sz="2800">
                <a:solidFill>
                  <a:schemeClr val="lt1"/>
                </a:solidFill>
                <a:latin typeface="Times"/>
                <a:ea typeface="Times"/>
                <a:cs typeface="Times"/>
                <a:sym typeface="Times"/>
              </a:rPr>
              <a:t>Strategic Insights from OpenAI API</a:t>
            </a:r>
            <a:endParaRPr b="1">
              <a:solidFill>
                <a:schemeClr val="lt1"/>
              </a:solidFill>
              <a:latin typeface="Times"/>
              <a:ea typeface="Times"/>
              <a:cs typeface="Times"/>
              <a:sym typeface="Times"/>
            </a:endParaRPr>
          </a:p>
        </p:txBody>
      </p:sp>
      <p:sp>
        <p:nvSpPr>
          <p:cNvPr id="119" name="Google Shape;119;p18"/>
          <p:cNvSpPr txBox="1"/>
          <p:nvPr/>
        </p:nvSpPr>
        <p:spPr>
          <a:xfrm>
            <a:off x="1183975" y="2401750"/>
            <a:ext cx="688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chemeClr val="lt2"/>
                </a:solidFill>
                <a:latin typeface="Times"/>
                <a:ea typeface="Times"/>
                <a:cs typeface="Times"/>
                <a:sym typeface="Times"/>
              </a:rPr>
              <a:t>Summarizing National Innovation Strategies from Top 5 Countries from the Innovation Index</a:t>
            </a:r>
            <a:endParaRPr b="1" sz="1300">
              <a:solidFill>
                <a:schemeClr val="lt2"/>
              </a:solidFill>
              <a:latin typeface="Times"/>
              <a:ea typeface="Times"/>
              <a:cs typeface="Times"/>
              <a:sym typeface="Time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9"/>
          <p:cNvPicPr preferRelativeResize="0"/>
          <p:nvPr/>
        </p:nvPicPr>
        <p:blipFill rotWithShape="1">
          <a:blip r:embed="rId3">
            <a:alphaModFix/>
          </a:blip>
          <a:srcRect b="-1239" l="50735" r="-735" t="1240"/>
          <a:stretch/>
        </p:blipFill>
        <p:spPr>
          <a:xfrm rot="445263">
            <a:off x="6907900" y="3034851"/>
            <a:ext cx="1758025" cy="1742550"/>
          </a:xfrm>
          <a:prstGeom prst="rect">
            <a:avLst/>
          </a:prstGeom>
          <a:noFill/>
          <a:ln>
            <a:noFill/>
          </a:ln>
        </p:spPr>
      </p:pic>
      <p:sp>
        <p:nvSpPr>
          <p:cNvPr id="125" name="Google Shape;125;p19"/>
          <p:cNvSpPr txBox="1"/>
          <p:nvPr/>
        </p:nvSpPr>
        <p:spPr>
          <a:xfrm>
            <a:off x="471750" y="1864525"/>
            <a:ext cx="6268800" cy="2878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zh-CN">
                <a:latin typeface="Times New Roman"/>
                <a:ea typeface="Times New Roman"/>
                <a:cs typeface="Times New Roman"/>
                <a:sym typeface="Times New Roman"/>
              </a:rPr>
              <a:t>The core of the U.S.’s R&amp;D strategies</a:t>
            </a:r>
            <a:r>
              <a:rPr lang="zh-CN">
                <a:latin typeface="Times New Roman"/>
                <a:ea typeface="Times New Roman"/>
                <a:cs typeface="Times New Roman"/>
                <a:sym typeface="Times New Roman"/>
              </a:rPr>
              <a:t> are novel discoveries, technical insights, and refinements, especially in critical and emerging technologies (CET).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zh-CN">
                <a:latin typeface="Times New Roman"/>
                <a:ea typeface="Times New Roman"/>
                <a:cs typeface="Times New Roman"/>
                <a:sym typeface="Times New Roman"/>
              </a:rPr>
              <a:t>The standards frequently incorporate patented technologies, with licensing revenues from these patents enabling the industry to recoup R&amp;D expenses and reinvest in future innovations.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zh-CN">
                <a:latin typeface="Times New Roman"/>
                <a:ea typeface="Times New Roman"/>
                <a:cs typeface="Times New Roman"/>
                <a:sym typeface="Times New Roman"/>
              </a:rPr>
              <a:t>The Department of Justice's Antitrust Division, the U.S. Patent and Trademark Office, and NIST to enhance innovation and competitiveness in the marketplace, including withdrawing their policy statement on Standards Essential Patents, which often encompass breakthroughs at the heart of new technologies.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26" name="Google Shape;126;p19"/>
          <p:cNvSpPr txBox="1"/>
          <p:nvPr/>
        </p:nvSpPr>
        <p:spPr>
          <a:xfrm>
            <a:off x="471750" y="952913"/>
            <a:ext cx="742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solidFill>
                  <a:schemeClr val="dk1"/>
                </a:solidFill>
                <a:latin typeface="Times New Roman"/>
                <a:ea typeface="Times New Roman"/>
                <a:cs typeface="Times New Roman"/>
                <a:sym typeface="Times New Roman"/>
              </a:rPr>
              <a:t>Research and Development (R&amp;D), defined as systematic activities aimed at acquiring new knowledge or improving existing knowledge to develop new products, processes, or services (</a:t>
            </a:r>
            <a:r>
              <a:rPr lang="zh-CN">
                <a:solidFill>
                  <a:schemeClr val="dk1"/>
                </a:solidFill>
                <a:latin typeface="Times New Roman"/>
                <a:ea typeface="Times New Roman"/>
                <a:cs typeface="Times New Roman"/>
                <a:sym typeface="Times New Roman"/>
              </a:rPr>
              <a:t>The National Defense Science &amp; Technology Strategy, 2023)</a:t>
            </a:r>
            <a:endParaRPr/>
          </a:p>
        </p:txBody>
      </p:sp>
      <p:sp>
        <p:nvSpPr>
          <p:cNvPr id="127" name="Google Shape;127;p19"/>
          <p:cNvSpPr txBox="1"/>
          <p:nvPr/>
        </p:nvSpPr>
        <p:spPr>
          <a:xfrm>
            <a:off x="384275" y="168450"/>
            <a:ext cx="7751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2500">
                <a:solidFill>
                  <a:srgbClr val="1C4587"/>
                </a:solidFill>
                <a:latin typeface="Times"/>
                <a:ea typeface="Times"/>
                <a:cs typeface="Times"/>
                <a:sym typeface="Times"/>
              </a:rPr>
              <a:t>The United States: </a:t>
            </a:r>
            <a:r>
              <a:rPr b="1" lang="zh-CN" sz="2500">
                <a:solidFill>
                  <a:srgbClr val="1C4587"/>
                </a:solidFill>
                <a:latin typeface="Times"/>
                <a:ea typeface="Times"/>
                <a:cs typeface="Times"/>
                <a:sym typeface="Times"/>
              </a:rPr>
              <a:t>Research and Development </a:t>
            </a:r>
            <a:endParaRPr b="1" sz="2500">
              <a:solidFill>
                <a:srgbClr val="1C4587"/>
              </a:solidFill>
              <a:latin typeface="Times"/>
              <a:ea typeface="Times"/>
              <a:cs typeface="Times"/>
              <a:sym typeface="Times"/>
            </a:endParaRPr>
          </a:p>
        </p:txBody>
      </p:sp>
      <p:cxnSp>
        <p:nvCxnSpPr>
          <p:cNvPr id="128" name="Google Shape;128;p19"/>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0"/>
          <p:cNvPicPr preferRelativeResize="0"/>
          <p:nvPr/>
        </p:nvPicPr>
        <p:blipFill rotWithShape="1">
          <a:blip r:embed="rId3">
            <a:alphaModFix/>
          </a:blip>
          <a:srcRect b="0" l="0" r="6568" t="0"/>
          <a:stretch/>
        </p:blipFill>
        <p:spPr>
          <a:xfrm rot="328295">
            <a:off x="6576817" y="3192576"/>
            <a:ext cx="2402740" cy="1592399"/>
          </a:xfrm>
          <a:prstGeom prst="rect">
            <a:avLst/>
          </a:prstGeom>
          <a:noFill/>
          <a:ln>
            <a:noFill/>
          </a:ln>
        </p:spPr>
      </p:pic>
      <p:sp>
        <p:nvSpPr>
          <p:cNvPr id="134" name="Google Shape;134;p20"/>
          <p:cNvSpPr txBox="1"/>
          <p:nvPr/>
        </p:nvSpPr>
        <p:spPr>
          <a:xfrm>
            <a:off x="471750" y="1576150"/>
            <a:ext cx="6332400" cy="2400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zh-CN" sz="1500">
                <a:solidFill>
                  <a:srgbClr val="0B5394"/>
                </a:solidFill>
                <a:latin typeface="Times New Roman"/>
                <a:ea typeface="Times New Roman"/>
                <a:cs typeface="Times New Roman"/>
                <a:sym typeface="Times New Roman"/>
              </a:rPr>
              <a:t>IP</a:t>
            </a:r>
            <a:r>
              <a:rPr b="1" lang="zh-CN" sz="1500">
                <a:solidFill>
                  <a:srgbClr val="0B5394"/>
                </a:solidFill>
                <a:latin typeface="Times New Roman"/>
                <a:ea typeface="Times New Roman"/>
                <a:cs typeface="Times New Roman"/>
                <a:sym typeface="Times New Roman"/>
              </a:rPr>
              <a:t> Education Program:</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Support Small and Medium-sized Enterprises (SMEs) in commercializing their IP and will provide support for research and development, securing and managing new IP rights, and helping with cutting down the costs which businesses face when leveraging their IP assets. </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Patent Box tax incentive is another measure that supports the retention of IP in the UK by allowing businesses to pay a reduced rate of tax on profits arising from exploiting patents and other qualifying products.</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etc.</a:t>
            </a:r>
            <a:endParaRPr>
              <a:solidFill>
                <a:schemeClr val="dk1"/>
              </a:solidFill>
              <a:latin typeface="Times New Roman"/>
              <a:ea typeface="Times New Roman"/>
              <a:cs typeface="Times New Roman"/>
              <a:sym typeface="Times New Roman"/>
            </a:endParaRPr>
          </a:p>
        </p:txBody>
      </p:sp>
      <p:sp>
        <p:nvSpPr>
          <p:cNvPr id="135" name="Google Shape;135;p20"/>
          <p:cNvSpPr txBox="1"/>
          <p:nvPr/>
        </p:nvSpPr>
        <p:spPr>
          <a:xfrm>
            <a:off x="471750" y="662975"/>
            <a:ext cx="8200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solidFill>
                  <a:schemeClr val="dk1"/>
                </a:solidFill>
                <a:latin typeface="Times New Roman"/>
                <a:ea typeface="Times New Roman"/>
                <a:cs typeface="Times New Roman"/>
                <a:sym typeface="Times New Roman"/>
              </a:rPr>
              <a:t>The UK Innovation Strategy also mentions the Intellectual Property Education Program for research education to help researchers leverage their intellectual property for commercialization.</a:t>
            </a:r>
            <a:endParaRPr>
              <a:latin typeface="Times New Roman"/>
              <a:ea typeface="Times New Roman"/>
              <a:cs typeface="Times New Roman"/>
              <a:sym typeface="Times New Roman"/>
            </a:endParaRPr>
          </a:p>
        </p:txBody>
      </p:sp>
      <p:sp>
        <p:nvSpPr>
          <p:cNvPr id="136" name="Google Shape;136;p20"/>
          <p:cNvSpPr txBox="1"/>
          <p:nvPr/>
        </p:nvSpPr>
        <p:spPr>
          <a:xfrm>
            <a:off x="384275" y="168450"/>
            <a:ext cx="7751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2500">
                <a:solidFill>
                  <a:srgbClr val="1C4587"/>
                </a:solidFill>
                <a:latin typeface="Times"/>
                <a:ea typeface="Times"/>
                <a:cs typeface="Times"/>
                <a:sym typeface="Times"/>
              </a:rPr>
              <a:t>The United Kingdom: IP Education Program</a:t>
            </a:r>
            <a:endParaRPr b="1" sz="2500">
              <a:solidFill>
                <a:srgbClr val="1C4587"/>
              </a:solidFill>
              <a:latin typeface="Times"/>
              <a:ea typeface="Times"/>
              <a:cs typeface="Times"/>
              <a:sym typeface="Times"/>
            </a:endParaRPr>
          </a:p>
        </p:txBody>
      </p:sp>
      <p:cxnSp>
        <p:nvCxnSpPr>
          <p:cNvPr id="137" name="Google Shape;137;p20"/>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21"/>
          <p:cNvSpPr txBox="1"/>
          <p:nvPr/>
        </p:nvSpPr>
        <p:spPr>
          <a:xfrm>
            <a:off x="628900" y="3369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
        <p:nvSpPr>
          <p:cNvPr id="143" name="Google Shape;143;p21"/>
          <p:cNvSpPr txBox="1"/>
          <p:nvPr/>
        </p:nvSpPr>
        <p:spPr>
          <a:xfrm>
            <a:off x="836275" y="1956150"/>
            <a:ext cx="5583600" cy="6156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zh-CN" sz="2800">
                <a:solidFill>
                  <a:schemeClr val="lt1"/>
                </a:solidFill>
                <a:latin typeface="Times"/>
                <a:ea typeface="Times"/>
                <a:cs typeface="Times"/>
                <a:sym typeface="Times"/>
              </a:rPr>
              <a:t>Apply Global </a:t>
            </a:r>
            <a:r>
              <a:rPr b="1" lang="zh-CN" sz="2800">
                <a:solidFill>
                  <a:schemeClr val="lt1"/>
                </a:solidFill>
                <a:latin typeface="Times"/>
                <a:ea typeface="Times"/>
                <a:cs typeface="Times"/>
                <a:sym typeface="Times"/>
              </a:rPr>
              <a:t>Insights to Canada</a:t>
            </a:r>
            <a:endParaRPr b="1">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cxnSp>
        <p:nvCxnSpPr>
          <p:cNvPr id="152" name="Google Shape;152;p23"/>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153" name="Google Shape;153;p23"/>
          <p:cNvSpPr txBox="1"/>
          <p:nvPr/>
        </p:nvSpPr>
        <p:spPr>
          <a:xfrm>
            <a:off x="429050" y="160050"/>
            <a:ext cx="6725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2500">
                <a:solidFill>
                  <a:srgbClr val="1C4587"/>
                </a:solidFill>
                <a:latin typeface="Times"/>
                <a:ea typeface="Times"/>
                <a:cs typeface="Times"/>
                <a:sym typeface="Times"/>
              </a:rPr>
              <a:t>Feature Analysis</a:t>
            </a:r>
            <a:endParaRPr/>
          </a:p>
        </p:txBody>
      </p:sp>
      <p:sp>
        <p:nvSpPr>
          <p:cNvPr id="154" name="Google Shape;154;p23"/>
          <p:cNvSpPr txBox="1"/>
          <p:nvPr/>
        </p:nvSpPr>
        <p:spPr>
          <a:xfrm>
            <a:off x="471750" y="940050"/>
            <a:ext cx="3770100" cy="3292500"/>
          </a:xfrm>
          <a:prstGeom prst="rect">
            <a:avLst/>
          </a:prstGeom>
          <a:solidFill>
            <a:srgbClr val="D0E0E3"/>
          </a:solid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zh-CN" sz="1800">
                <a:solidFill>
                  <a:schemeClr val="dk1"/>
                </a:solidFill>
                <a:latin typeface="Times New Roman"/>
                <a:ea typeface="Times New Roman"/>
                <a:cs typeface="Times New Roman"/>
                <a:sym typeface="Times New Roman"/>
              </a:rPr>
              <a:t>Knowledge and Technology Outputs</a:t>
            </a:r>
            <a:endParaRPr b="1" sz="18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1200"/>
              </a:spcAft>
              <a:buNone/>
            </a:pPr>
            <a:r>
              <a:rPr lang="zh-CN">
                <a:solidFill>
                  <a:schemeClr val="dk1"/>
                </a:solidFill>
                <a:latin typeface="Times New Roman"/>
                <a:ea typeface="Times New Roman"/>
                <a:cs typeface="Times New Roman"/>
                <a:sym typeface="Times New Roman"/>
              </a:rPr>
              <a:t>This feature represents the intellectual and technological achievements arising from a nation's innovation ecosystem, including discoveries, patented technologies, and creative outputs, driving economic growth and enhancing global competitiveness by leveraging intellectual capital to generate innovative products, processes, and services for Canada.</a:t>
            </a:r>
            <a:endParaRPr sz="1800">
              <a:solidFill>
                <a:schemeClr val="dk2"/>
              </a:solidFill>
            </a:endParaRPr>
          </a:p>
        </p:txBody>
      </p:sp>
      <p:sp>
        <p:nvSpPr>
          <p:cNvPr id="155" name="Google Shape;155;p23"/>
          <p:cNvSpPr txBox="1"/>
          <p:nvPr/>
        </p:nvSpPr>
        <p:spPr>
          <a:xfrm>
            <a:off x="4572000" y="940050"/>
            <a:ext cx="4100400" cy="2909100"/>
          </a:xfrm>
          <a:prstGeom prst="rect">
            <a:avLst/>
          </a:prstGeom>
          <a:solidFill>
            <a:srgbClr val="C9DAF8"/>
          </a:solid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zh-CN" sz="1800">
                <a:solidFill>
                  <a:schemeClr val="dk1"/>
                </a:solidFill>
                <a:latin typeface="Times New Roman"/>
                <a:ea typeface="Times New Roman"/>
                <a:cs typeface="Times New Roman"/>
                <a:sym typeface="Times New Roman"/>
              </a:rPr>
              <a:t>Human Capital and Research</a:t>
            </a:r>
            <a:endParaRPr b="1" sz="18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1200"/>
              </a:spcAft>
              <a:buNone/>
            </a:pPr>
            <a:r>
              <a:rPr lang="zh-CN">
                <a:solidFill>
                  <a:schemeClr val="dk1"/>
                </a:solidFill>
                <a:latin typeface="Times New Roman"/>
                <a:ea typeface="Times New Roman"/>
                <a:cs typeface="Times New Roman"/>
                <a:sym typeface="Times New Roman"/>
              </a:rPr>
              <a:t>This feature emphasizes the crucial role of skilled workers in driving innovation. It aims to encourage impactful research through incentives and collaboration, contributing to economic growth and technological progress. Ongoing measurement ensures strategic improvements and maintains the workforce as a key force in innovation.</a:t>
            </a:r>
            <a:endParaRPr sz="1800">
              <a:solidFill>
                <a:schemeClr val="dk2"/>
              </a:solidFill>
            </a:endParaRPr>
          </a:p>
        </p:txBody>
      </p:sp>
      <p:pic>
        <p:nvPicPr>
          <p:cNvPr id="156" name="Google Shape;156;p23"/>
          <p:cNvPicPr preferRelativeResize="0"/>
          <p:nvPr/>
        </p:nvPicPr>
        <p:blipFill>
          <a:blip r:embed="rId3">
            <a:alphaModFix/>
          </a:blip>
          <a:stretch>
            <a:fillRect/>
          </a:stretch>
        </p:blipFill>
        <p:spPr>
          <a:xfrm>
            <a:off x="7116175" y="3529725"/>
            <a:ext cx="1819249" cy="14904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nvSpPr>
        <p:spPr>
          <a:xfrm>
            <a:off x="418400" y="77100"/>
            <a:ext cx="4951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2500">
                <a:solidFill>
                  <a:srgbClr val="1C4587"/>
                </a:solidFill>
                <a:latin typeface="Times"/>
                <a:ea typeface="Times"/>
                <a:cs typeface="Times"/>
                <a:sym typeface="Times"/>
              </a:rPr>
              <a:t>Policy Recommendations</a:t>
            </a:r>
            <a:endParaRPr/>
          </a:p>
        </p:txBody>
      </p:sp>
      <p:cxnSp>
        <p:nvCxnSpPr>
          <p:cNvPr id="162" name="Google Shape;162;p24"/>
          <p:cNvCxnSpPr/>
          <p:nvPr/>
        </p:nvCxnSpPr>
        <p:spPr>
          <a:xfrm flipH="1" rot="10800000">
            <a:off x="471750" y="571200"/>
            <a:ext cx="8200500" cy="600"/>
          </a:xfrm>
          <a:prstGeom prst="straightConnector1">
            <a:avLst/>
          </a:prstGeom>
          <a:noFill/>
          <a:ln cap="flat" cmpd="sng" w="19050">
            <a:solidFill>
              <a:srgbClr val="1C4587"/>
            </a:solidFill>
            <a:prstDash val="solid"/>
            <a:round/>
            <a:headEnd len="med" w="med" type="none"/>
            <a:tailEnd len="med" w="med" type="none"/>
          </a:ln>
        </p:spPr>
      </p:cxnSp>
      <p:grpSp>
        <p:nvGrpSpPr>
          <p:cNvPr id="163" name="Google Shape;163;p24"/>
          <p:cNvGrpSpPr/>
          <p:nvPr/>
        </p:nvGrpSpPr>
        <p:grpSpPr>
          <a:xfrm>
            <a:off x="557076" y="3930775"/>
            <a:ext cx="7864527" cy="918792"/>
            <a:chOff x="1593000" y="2322566"/>
            <a:chExt cx="5957975" cy="643502"/>
          </a:xfrm>
        </p:grpSpPr>
        <p:sp>
          <p:nvSpPr>
            <p:cNvPr id="164" name="Google Shape;164;p24"/>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4"/>
            <p:cNvSpPr/>
            <p:nvPr/>
          </p:nvSpPr>
          <p:spPr>
            <a:xfrm flipH="1">
              <a:off x="2283025" y="2322575"/>
              <a:ext cx="1844400" cy="642600"/>
            </a:xfrm>
            <a:prstGeom prst="rect">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4"/>
            <p:cNvSpPr/>
            <p:nvPr/>
          </p:nvSpPr>
          <p:spPr>
            <a:xfrm rot="-5400000">
              <a:off x="3501574" y="1934671"/>
              <a:ext cx="643356" cy="1419149"/>
            </a:xfrm>
            <a:prstGeom prst="flowChartOffpageConnector">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4"/>
            <p:cNvSpPr/>
            <p:nvPr/>
          </p:nvSpPr>
          <p:spPr>
            <a:xfrm>
              <a:off x="2342621" y="2468963"/>
              <a:ext cx="2139000" cy="49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CN">
                  <a:solidFill>
                    <a:schemeClr val="lt1"/>
                  </a:solidFill>
                  <a:latin typeface="Times New Roman"/>
                  <a:ea typeface="Times New Roman"/>
                  <a:cs typeface="Times New Roman"/>
                  <a:sym typeface="Times New Roman"/>
                </a:rPr>
                <a:t>STEM Education Enhancement</a:t>
              </a:r>
              <a:endParaRPr b="1">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
          <p:nvSpPr>
            <p:cNvPr id="168" name="Google Shape;168;p24"/>
            <p:cNvSpPr/>
            <p:nvPr/>
          </p:nvSpPr>
          <p:spPr>
            <a:xfrm>
              <a:off x="1593000" y="2322568"/>
              <a:ext cx="690000" cy="642300"/>
            </a:xfrm>
            <a:prstGeom prst="rect">
              <a:avLst/>
            </a:prstGeom>
            <a:solidFill>
              <a:srgbClr val="0D5D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4"/>
            <p:cNvSpPr/>
            <p:nvPr/>
          </p:nvSpPr>
          <p:spPr>
            <a:xfrm>
              <a:off x="1593000" y="2322575"/>
              <a:ext cx="690000" cy="642600"/>
            </a:xfrm>
            <a:prstGeom prst="rect">
              <a:avLst/>
            </a:prstGeom>
            <a:solidFill>
              <a:srgbClr val="0E65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170" name="Google Shape;170;p24"/>
            <p:cNvSpPr/>
            <p:nvPr/>
          </p:nvSpPr>
          <p:spPr>
            <a:xfrm>
              <a:off x="4387848" y="2322566"/>
              <a:ext cx="2971200" cy="643500"/>
            </a:xfrm>
            <a:prstGeom prst="rect">
              <a:avLst/>
            </a:prstGeom>
            <a:noFill/>
            <a:ln>
              <a:noFill/>
            </a:ln>
          </p:spPr>
          <p:txBody>
            <a:bodyPr anchorCtr="0" anchor="ctr" bIns="91425" lIns="91425" spcFirstLastPara="1" rIns="91425" wrap="square" tIns="91425">
              <a:noAutofit/>
            </a:bodyPr>
            <a:lstStyle/>
            <a:p>
              <a:pPr indent="-292100" lvl="0" marL="457200" rtl="0" algn="just">
                <a:lnSpc>
                  <a:spcPct val="115000"/>
                </a:lnSpc>
                <a:spcBef>
                  <a:spcPts val="0"/>
                </a:spcBef>
                <a:spcAft>
                  <a:spcPts val="0"/>
                </a:spcAft>
                <a:buClr>
                  <a:schemeClr val="dk1"/>
                </a:buClr>
                <a:buSzPts val="1000"/>
                <a:buFont typeface="Times New Roman"/>
                <a:buChar char="●"/>
              </a:pPr>
              <a:r>
                <a:t/>
              </a:r>
              <a:endParaRPr sz="1000">
                <a:solidFill>
                  <a:schemeClr val="dk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dk1"/>
                </a:buClr>
                <a:buSzPts val="1000"/>
                <a:buFont typeface="Times New Roman"/>
                <a:buChar char="●"/>
              </a:pPr>
              <a:r>
                <a:rPr lang="zh-CN" sz="1000">
                  <a:solidFill>
                    <a:schemeClr val="dk1"/>
                  </a:solidFill>
                  <a:latin typeface="Times New Roman"/>
                  <a:ea typeface="Times New Roman"/>
                  <a:cs typeface="Times New Roman"/>
                  <a:sym typeface="Times New Roman"/>
                </a:rPr>
                <a:t>This policy aims to strengthen STEM education, aligning it with industry needs to cultivate a skilled workforce. It focuses on immediate talent demand and envisions long-term benefits, anticipating sustained innovation and economic growth through educational investment.</a:t>
              </a:r>
              <a:endParaRPr sz="10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sz="1000">
                <a:solidFill>
                  <a:schemeClr val="dk1"/>
                </a:solidFill>
                <a:latin typeface="Times New Roman"/>
                <a:ea typeface="Times New Roman"/>
                <a:cs typeface="Times New Roman"/>
                <a:sym typeface="Times New Roman"/>
              </a:endParaRPr>
            </a:p>
          </p:txBody>
        </p:sp>
      </p:grpSp>
      <p:grpSp>
        <p:nvGrpSpPr>
          <p:cNvPr id="171" name="Google Shape;171;p24"/>
          <p:cNvGrpSpPr/>
          <p:nvPr/>
        </p:nvGrpSpPr>
        <p:grpSpPr>
          <a:xfrm>
            <a:off x="556875" y="3087415"/>
            <a:ext cx="7864598" cy="881214"/>
            <a:chOff x="1593000" y="2322568"/>
            <a:chExt cx="5958029" cy="672170"/>
          </a:xfrm>
        </p:grpSpPr>
        <p:sp>
          <p:nvSpPr>
            <p:cNvPr id="172" name="Google Shape;172;p24"/>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4"/>
            <p:cNvSpPr/>
            <p:nvPr/>
          </p:nvSpPr>
          <p:spPr>
            <a:xfrm flipH="1">
              <a:off x="2283025" y="2322575"/>
              <a:ext cx="1844400" cy="642600"/>
            </a:xfrm>
            <a:prstGeom prst="rect">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4"/>
            <p:cNvSpPr/>
            <p:nvPr/>
          </p:nvSpPr>
          <p:spPr>
            <a:xfrm rot="-5400000">
              <a:off x="3501574" y="1934671"/>
              <a:ext cx="643356" cy="1419149"/>
            </a:xfrm>
            <a:prstGeom prst="flowChartOffpageConnector">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4"/>
            <p:cNvSpPr/>
            <p:nvPr/>
          </p:nvSpPr>
          <p:spPr>
            <a:xfrm>
              <a:off x="2365068" y="2470184"/>
              <a:ext cx="1940700" cy="495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zh-CN">
                  <a:solidFill>
                    <a:schemeClr val="lt1"/>
                  </a:solidFill>
                  <a:latin typeface="Times New Roman"/>
                  <a:ea typeface="Times New Roman"/>
                  <a:cs typeface="Times New Roman"/>
                  <a:sym typeface="Times New Roman"/>
                </a:rPr>
                <a:t>Innovation Hub Model</a:t>
              </a:r>
              <a:endParaRPr b="1">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FFFFFF"/>
                </a:solidFill>
                <a:latin typeface="Times New Roman"/>
                <a:ea typeface="Times New Roman"/>
                <a:cs typeface="Times New Roman"/>
                <a:sym typeface="Times New Roman"/>
              </a:endParaRPr>
            </a:p>
          </p:txBody>
        </p:sp>
        <p:sp>
          <p:nvSpPr>
            <p:cNvPr id="176" name="Google Shape;176;p24"/>
            <p:cNvSpPr/>
            <p:nvPr/>
          </p:nvSpPr>
          <p:spPr>
            <a:xfrm>
              <a:off x="1593000" y="2322568"/>
              <a:ext cx="690000" cy="642300"/>
            </a:xfrm>
            <a:prstGeom prst="rect">
              <a:avLst/>
            </a:prstGeom>
            <a:solidFill>
              <a:srgbClr val="0D5D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4"/>
            <p:cNvSpPr/>
            <p:nvPr/>
          </p:nvSpPr>
          <p:spPr>
            <a:xfrm>
              <a:off x="1593000" y="2322575"/>
              <a:ext cx="690000" cy="642600"/>
            </a:xfrm>
            <a:prstGeom prst="rect">
              <a:avLst/>
            </a:prstGeom>
            <a:solidFill>
              <a:srgbClr val="0E65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178" name="Google Shape;178;p24"/>
            <p:cNvSpPr/>
            <p:nvPr/>
          </p:nvSpPr>
          <p:spPr>
            <a:xfrm>
              <a:off x="4387829" y="2351237"/>
              <a:ext cx="3163200" cy="643500"/>
            </a:xfrm>
            <a:prstGeom prst="rect">
              <a:avLst/>
            </a:prstGeom>
            <a:noFill/>
            <a:ln>
              <a:noFill/>
            </a:ln>
          </p:spPr>
          <p:txBody>
            <a:bodyPr anchorCtr="0" anchor="ctr" bIns="91425" lIns="91425" spcFirstLastPara="1" rIns="91425" wrap="square" tIns="91425">
              <a:noAutofit/>
            </a:bodyPr>
            <a:lstStyle/>
            <a:p>
              <a:pPr indent="-292100" lvl="0" marL="457200" rtl="0" algn="just">
                <a:lnSpc>
                  <a:spcPct val="115000"/>
                </a:lnSpc>
                <a:spcBef>
                  <a:spcPts val="0"/>
                </a:spcBef>
                <a:spcAft>
                  <a:spcPts val="0"/>
                </a:spcAft>
                <a:buClr>
                  <a:schemeClr val="dk1"/>
                </a:buClr>
                <a:buSzPts val="1000"/>
                <a:buFont typeface="Times New Roman"/>
                <a:buChar char="●"/>
              </a:pPr>
              <a:r>
                <a:rPr lang="zh-CN" sz="1000">
                  <a:solidFill>
                    <a:schemeClr val="dk1"/>
                  </a:solidFill>
                  <a:latin typeface="Times New Roman"/>
                  <a:ea typeface="Times New Roman"/>
                  <a:cs typeface="Times New Roman"/>
                  <a:sym typeface="Times New Roman"/>
                </a:rPr>
                <a:t>It creates specialized hubs to drive collaborative research and technology transfer, fostering interdisciplinary collaboration and accelerating the practical application of knowledge and technologies.</a:t>
              </a:r>
              <a:endParaRPr sz="1000">
                <a:solidFill>
                  <a:srgbClr val="0C58D3"/>
                </a:solidFill>
                <a:latin typeface="Times New Roman"/>
                <a:ea typeface="Times New Roman"/>
                <a:cs typeface="Times New Roman"/>
                <a:sym typeface="Times New Roman"/>
              </a:endParaRPr>
            </a:p>
          </p:txBody>
        </p:sp>
      </p:grpSp>
      <p:grpSp>
        <p:nvGrpSpPr>
          <p:cNvPr id="179" name="Google Shape;179;p24"/>
          <p:cNvGrpSpPr/>
          <p:nvPr/>
        </p:nvGrpSpPr>
        <p:grpSpPr>
          <a:xfrm>
            <a:off x="556926" y="2243796"/>
            <a:ext cx="7864527" cy="918781"/>
            <a:chOff x="1593000" y="2322568"/>
            <a:chExt cx="5957975" cy="682398"/>
          </a:xfrm>
        </p:grpSpPr>
        <p:sp>
          <p:nvSpPr>
            <p:cNvPr id="180" name="Google Shape;180;p24"/>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4"/>
            <p:cNvSpPr/>
            <p:nvPr/>
          </p:nvSpPr>
          <p:spPr>
            <a:xfrm flipH="1">
              <a:off x="2283025" y="2322575"/>
              <a:ext cx="1844400" cy="642600"/>
            </a:xfrm>
            <a:prstGeom prst="rect">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4"/>
            <p:cNvSpPr/>
            <p:nvPr/>
          </p:nvSpPr>
          <p:spPr>
            <a:xfrm rot="-5400000">
              <a:off x="3501574" y="1934671"/>
              <a:ext cx="643356" cy="1419149"/>
            </a:xfrm>
            <a:prstGeom prst="flowChartOffpageConnector">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a:off x="2365068" y="2509066"/>
              <a:ext cx="1940700" cy="495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zh-CN">
                  <a:solidFill>
                    <a:schemeClr val="lt1"/>
                  </a:solidFill>
                  <a:latin typeface="Times New Roman"/>
                  <a:ea typeface="Times New Roman"/>
                  <a:cs typeface="Times New Roman"/>
                  <a:sym typeface="Times New Roman"/>
                </a:rPr>
                <a:t>InnoHarbor Canada Program (IHCP)</a:t>
              </a:r>
              <a:endParaRPr b="1">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200">
                <a:solidFill>
                  <a:schemeClr val="dk1"/>
                </a:solidFill>
                <a:latin typeface="Times New Roman"/>
                <a:ea typeface="Times New Roman"/>
                <a:cs typeface="Times New Roman"/>
                <a:sym typeface="Times New Roman"/>
              </a:endParaRPr>
            </a:p>
          </p:txBody>
        </p:sp>
        <p:sp>
          <p:nvSpPr>
            <p:cNvPr id="184" name="Google Shape;184;p24"/>
            <p:cNvSpPr/>
            <p:nvPr/>
          </p:nvSpPr>
          <p:spPr>
            <a:xfrm>
              <a:off x="1593000" y="2322568"/>
              <a:ext cx="690000" cy="642300"/>
            </a:xfrm>
            <a:prstGeom prst="rect">
              <a:avLst/>
            </a:prstGeom>
            <a:solidFill>
              <a:srgbClr val="0D5D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4"/>
            <p:cNvSpPr/>
            <p:nvPr/>
          </p:nvSpPr>
          <p:spPr>
            <a:xfrm>
              <a:off x="1593000" y="2322575"/>
              <a:ext cx="690000" cy="642600"/>
            </a:xfrm>
            <a:prstGeom prst="rect">
              <a:avLst/>
            </a:prstGeom>
            <a:solidFill>
              <a:srgbClr val="0E65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186" name="Google Shape;186;p24"/>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92100" lvl="0" marL="457200" rtl="0" algn="just">
                <a:lnSpc>
                  <a:spcPct val="115000"/>
                </a:lnSpc>
                <a:spcBef>
                  <a:spcPts val="0"/>
                </a:spcBef>
                <a:spcAft>
                  <a:spcPts val="0"/>
                </a:spcAft>
                <a:buClr>
                  <a:srgbClr val="0F0F0F"/>
                </a:buClr>
                <a:buSzPts val="1000"/>
                <a:buFont typeface="Times New Roman"/>
                <a:buChar char="●"/>
              </a:pPr>
              <a:r>
                <a:rPr lang="zh-CN" sz="1000">
                  <a:solidFill>
                    <a:srgbClr val="0F0F0F"/>
                  </a:solidFill>
                  <a:latin typeface="Times New Roman"/>
                  <a:ea typeface="Times New Roman"/>
                  <a:cs typeface="Times New Roman"/>
                  <a:sym typeface="Times New Roman"/>
                </a:rPr>
                <a:t>The InnoHarbor Canada Program (IHCP) acts as a link between private enterprises and national R&amp;D goals, promoting collaboration and encouraging increased R&amp;D spending for enhanced global innovation standing.</a:t>
              </a:r>
              <a:endParaRPr sz="1000">
                <a:solidFill>
                  <a:srgbClr val="0F0F0F"/>
                </a:solidFill>
                <a:latin typeface="Times New Roman"/>
                <a:ea typeface="Times New Roman"/>
                <a:cs typeface="Times New Roman"/>
                <a:sym typeface="Times New Roman"/>
              </a:endParaRPr>
            </a:p>
          </p:txBody>
        </p:sp>
      </p:grpSp>
      <p:grpSp>
        <p:nvGrpSpPr>
          <p:cNvPr id="187" name="Google Shape;187;p24"/>
          <p:cNvGrpSpPr/>
          <p:nvPr/>
        </p:nvGrpSpPr>
        <p:grpSpPr>
          <a:xfrm>
            <a:off x="556926" y="1483722"/>
            <a:ext cx="7864527" cy="864374"/>
            <a:chOff x="1593000" y="2322568"/>
            <a:chExt cx="5957975" cy="659324"/>
          </a:xfrm>
        </p:grpSpPr>
        <p:sp>
          <p:nvSpPr>
            <p:cNvPr id="188" name="Google Shape;188;p24"/>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
            <p:cNvSpPr/>
            <p:nvPr/>
          </p:nvSpPr>
          <p:spPr>
            <a:xfrm flipH="1">
              <a:off x="2283025" y="2322575"/>
              <a:ext cx="1844400" cy="642600"/>
            </a:xfrm>
            <a:prstGeom prst="rect">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rot="-5400000">
              <a:off x="3501574" y="1934671"/>
              <a:ext cx="643356" cy="1419149"/>
            </a:xfrm>
            <a:prstGeom prst="flowChartOffpageConnector">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4"/>
            <p:cNvSpPr/>
            <p:nvPr/>
          </p:nvSpPr>
          <p:spPr>
            <a:xfrm>
              <a:off x="2365078" y="2485992"/>
              <a:ext cx="1940700" cy="495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zh-CN" sz="1200">
                  <a:solidFill>
                    <a:schemeClr val="lt1"/>
                  </a:solidFill>
                  <a:latin typeface="Times New Roman"/>
                  <a:ea typeface="Times New Roman"/>
                  <a:cs typeface="Times New Roman"/>
                  <a:sym typeface="Times New Roman"/>
                </a:rPr>
                <a:t> </a:t>
              </a:r>
              <a:r>
                <a:rPr b="1" lang="zh-CN">
                  <a:solidFill>
                    <a:schemeClr val="lt1"/>
                  </a:solidFill>
                  <a:latin typeface="Times New Roman"/>
                  <a:ea typeface="Times New Roman"/>
                  <a:cs typeface="Times New Roman"/>
                  <a:sym typeface="Times New Roman"/>
                </a:rPr>
                <a:t>Intellectual Property Strategy</a:t>
              </a:r>
              <a:endParaRPr b="1">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p:txBody>
        </p:sp>
        <p:sp>
          <p:nvSpPr>
            <p:cNvPr id="192" name="Google Shape;192;p24"/>
            <p:cNvSpPr/>
            <p:nvPr/>
          </p:nvSpPr>
          <p:spPr>
            <a:xfrm>
              <a:off x="1593000" y="2322568"/>
              <a:ext cx="690000" cy="642300"/>
            </a:xfrm>
            <a:prstGeom prst="rect">
              <a:avLst/>
            </a:prstGeom>
            <a:solidFill>
              <a:srgbClr val="0D5D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4"/>
            <p:cNvSpPr/>
            <p:nvPr/>
          </p:nvSpPr>
          <p:spPr>
            <a:xfrm>
              <a:off x="1593000" y="2322575"/>
              <a:ext cx="690000" cy="642600"/>
            </a:xfrm>
            <a:prstGeom prst="rect">
              <a:avLst/>
            </a:prstGeom>
            <a:solidFill>
              <a:srgbClr val="0E65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194" name="Google Shape;194;p24"/>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92100" lvl="0" marL="457200" rtl="0" algn="just">
                <a:lnSpc>
                  <a:spcPct val="115000"/>
                </a:lnSpc>
                <a:spcBef>
                  <a:spcPts val="0"/>
                </a:spcBef>
                <a:spcAft>
                  <a:spcPts val="0"/>
                </a:spcAft>
                <a:buClr>
                  <a:schemeClr val="dk1"/>
                </a:buClr>
                <a:buSzPts val="1000"/>
                <a:buFont typeface="Times New Roman"/>
                <a:buChar char="●"/>
              </a:pPr>
              <a:r>
                <a:rPr lang="zh-CN" sz="1000">
                  <a:solidFill>
                    <a:schemeClr val="dk1"/>
                  </a:solidFill>
                  <a:latin typeface="Times New Roman"/>
                  <a:ea typeface="Times New Roman"/>
                  <a:cs typeface="Times New Roman"/>
                  <a:sym typeface="Times New Roman"/>
                </a:rPr>
                <a:t>The policy aligns Canada's innovation with a strong intellectual property strategy, providing comprehensive support, instilling confidence, and leveraging international agreements for global impact.</a:t>
              </a:r>
              <a:endParaRPr sz="1000">
                <a:solidFill>
                  <a:schemeClr val="dk1"/>
                </a:solidFill>
                <a:latin typeface="Times New Roman"/>
                <a:ea typeface="Times New Roman"/>
                <a:cs typeface="Times New Roman"/>
                <a:sym typeface="Times New Roman"/>
              </a:endParaRPr>
            </a:p>
          </p:txBody>
        </p:sp>
      </p:grpSp>
      <p:grpSp>
        <p:nvGrpSpPr>
          <p:cNvPr id="195" name="Google Shape;195;p24"/>
          <p:cNvGrpSpPr/>
          <p:nvPr/>
        </p:nvGrpSpPr>
        <p:grpSpPr>
          <a:xfrm>
            <a:off x="557076" y="712982"/>
            <a:ext cx="7864527" cy="864349"/>
            <a:chOff x="1593000" y="2322568"/>
            <a:chExt cx="5957975" cy="643500"/>
          </a:xfrm>
        </p:grpSpPr>
        <p:sp>
          <p:nvSpPr>
            <p:cNvPr id="196" name="Google Shape;196;p24"/>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
            <p:cNvSpPr/>
            <p:nvPr/>
          </p:nvSpPr>
          <p:spPr>
            <a:xfrm flipH="1">
              <a:off x="2283025" y="2322575"/>
              <a:ext cx="1844400" cy="642600"/>
            </a:xfrm>
            <a:prstGeom prst="rect">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4"/>
            <p:cNvSpPr/>
            <p:nvPr/>
          </p:nvSpPr>
          <p:spPr>
            <a:xfrm rot="-5400000">
              <a:off x="3501574" y="1934671"/>
              <a:ext cx="643356" cy="1419149"/>
            </a:xfrm>
            <a:prstGeom prst="flowChartOffpageConnector">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4"/>
            <p:cNvSpPr/>
            <p:nvPr/>
          </p:nvSpPr>
          <p:spPr>
            <a:xfrm>
              <a:off x="2342716" y="2468962"/>
              <a:ext cx="22920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zh-CN" sz="1300">
                  <a:solidFill>
                    <a:schemeClr val="lt1"/>
                  </a:solidFill>
                  <a:latin typeface="Times New Roman"/>
                  <a:ea typeface="Times New Roman"/>
                  <a:cs typeface="Times New Roman"/>
                  <a:sym typeface="Times New Roman"/>
                </a:rPr>
                <a:t>Holistic Engagement for Advanced Innovation Programs (HEAIP)</a:t>
              </a:r>
              <a:endParaRPr b="1" sz="13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lt1"/>
                </a:solidFill>
                <a:latin typeface="Roboto Medium"/>
                <a:ea typeface="Roboto Medium"/>
                <a:cs typeface="Roboto Medium"/>
                <a:sym typeface="Roboto Medium"/>
              </a:endParaRPr>
            </a:p>
          </p:txBody>
        </p:sp>
        <p:sp>
          <p:nvSpPr>
            <p:cNvPr id="200" name="Google Shape;200;p24"/>
            <p:cNvSpPr/>
            <p:nvPr/>
          </p:nvSpPr>
          <p:spPr>
            <a:xfrm>
              <a:off x="1593000" y="2322568"/>
              <a:ext cx="690000" cy="642300"/>
            </a:xfrm>
            <a:prstGeom prst="rect">
              <a:avLst/>
            </a:prstGeom>
            <a:solidFill>
              <a:srgbClr val="0D5D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1593000" y="2322575"/>
              <a:ext cx="690000" cy="642600"/>
            </a:xfrm>
            <a:prstGeom prst="rect">
              <a:avLst/>
            </a:prstGeom>
            <a:solidFill>
              <a:srgbClr val="0E65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C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02" name="Google Shape;202;p24"/>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92100" lvl="0" marL="457200" rtl="0" algn="just">
                <a:lnSpc>
                  <a:spcPct val="115000"/>
                </a:lnSpc>
                <a:spcBef>
                  <a:spcPts val="0"/>
                </a:spcBef>
                <a:spcAft>
                  <a:spcPts val="0"/>
                </a:spcAft>
                <a:buClr>
                  <a:srgbClr val="0F0F0F"/>
                </a:buClr>
                <a:buSzPts val="1000"/>
                <a:buFont typeface="Times New Roman"/>
                <a:buChar char="●"/>
              </a:pPr>
              <a:r>
                <a:rPr lang="zh-CN" sz="1000">
                  <a:solidFill>
                    <a:srgbClr val="0F0F0F"/>
                  </a:solidFill>
                  <a:latin typeface="Times New Roman"/>
                  <a:ea typeface="Times New Roman"/>
                  <a:cs typeface="Times New Roman"/>
                  <a:sym typeface="Times New Roman"/>
                </a:rPr>
                <a:t>HEAIP tackles research challenges, fosters collaboration, and supports diverse needs, contributing to a vibrant research landscape in Canada.</a:t>
              </a:r>
              <a:endParaRPr sz="1000">
                <a:solidFill>
                  <a:srgbClr val="0F0F0F"/>
                </a:solidFill>
                <a:latin typeface="Times New Roman"/>
                <a:ea typeface="Times New Roman"/>
                <a:cs typeface="Times New Roman"/>
                <a:sym typeface="Times New Roman"/>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cxnSp>
        <p:nvCxnSpPr>
          <p:cNvPr id="207" name="Google Shape;207;p25"/>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208" name="Google Shape;208;p25"/>
          <p:cNvSpPr txBox="1"/>
          <p:nvPr/>
        </p:nvSpPr>
        <p:spPr>
          <a:xfrm>
            <a:off x="429050" y="149375"/>
            <a:ext cx="5132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2500">
                <a:solidFill>
                  <a:srgbClr val="1C4587"/>
                </a:solidFill>
                <a:latin typeface="Times"/>
                <a:ea typeface="Times"/>
                <a:cs typeface="Times"/>
                <a:sym typeface="Times"/>
              </a:rPr>
              <a:t>Implementation Approach</a:t>
            </a:r>
            <a:endParaRPr/>
          </a:p>
        </p:txBody>
      </p:sp>
      <p:pic>
        <p:nvPicPr>
          <p:cNvPr id="209" name="Google Shape;209;p25"/>
          <p:cNvPicPr preferRelativeResize="0"/>
          <p:nvPr/>
        </p:nvPicPr>
        <p:blipFill>
          <a:blip r:embed="rId3">
            <a:alphaModFix/>
          </a:blip>
          <a:stretch>
            <a:fillRect/>
          </a:stretch>
        </p:blipFill>
        <p:spPr>
          <a:xfrm>
            <a:off x="5251875" y="900650"/>
            <a:ext cx="3652925" cy="3652925"/>
          </a:xfrm>
          <a:prstGeom prst="rect">
            <a:avLst/>
          </a:prstGeom>
          <a:noFill/>
          <a:ln>
            <a:noFill/>
          </a:ln>
        </p:spPr>
      </p:pic>
      <p:sp>
        <p:nvSpPr>
          <p:cNvPr id="210" name="Google Shape;210;p25"/>
          <p:cNvSpPr txBox="1"/>
          <p:nvPr/>
        </p:nvSpPr>
        <p:spPr>
          <a:xfrm>
            <a:off x="378625" y="899150"/>
            <a:ext cx="4765500" cy="40017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Stakeholders will be engaged through consultations and partnerships.</a:t>
            </a:r>
            <a:endParaRPr>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Collaboration with government bodies will secure funding and regulatory support, while public support will be garnered through awareness campaigns.</a:t>
            </a:r>
            <a:endParaRPr>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Addressing potential opposition involves transparent communication and policy flexibility. Fiscal impact will be managed through diversified funding, including public-private partnerships. </a:t>
            </a:r>
            <a:endParaRPr>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zh-CN">
                <a:solidFill>
                  <a:schemeClr val="dk1"/>
                </a:solidFill>
                <a:latin typeface="Times New Roman"/>
                <a:ea typeface="Times New Roman"/>
                <a:cs typeface="Times New Roman"/>
                <a:sym typeface="Times New Roman"/>
              </a:rPr>
              <a:t>The evaluation plan includes continuous monitoring of innovation metrics, periodic reviews with stakeholders, and adaptive policy adjustments based on evolving needs and feedback.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pic>
        <p:nvPicPr>
          <p:cNvPr id="215" name="Google Shape;215;p26"/>
          <p:cNvPicPr preferRelativeResize="0"/>
          <p:nvPr/>
        </p:nvPicPr>
        <p:blipFill>
          <a:blip r:embed="rId3">
            <a:alphaModFix/>
          </a:blip>
          <a:stretch>
            <a:fillRect/>
          </a:stretch>
        </p:blipFill>
        <p:spPr>
          <a:xfrm>
            <a:off x="0" y="0"/>
            <a:ext cx="9144000" cy="5143500"/>
          </a:xfrm>
          <a:prstGeom prst="rect">
            <a:avLst/>
          </a:prstGeom>
          <a:noFill/>
          <a:ln>
            <a:noFill/>
          </a:ln>
        </p:spPr>
      </p:pic>
      <p:sp>
        <p:nvSpPr>
          <p:cNvPr id="216" name="Google Shape;216;p26"/>
          <p:cNvSpPr/>
          <p:nvPr/>
        </p:nvSpPr>
        <p:spPr>
          <a:xfrm rot="-729939">
            <a:off x="6113124" y="964624"/>
            <a:ext cx="2656451" cy="575025"/>
          </a:xfrm>
          <a:prstGeom prst="rect">
            <a:avLst/>
          </a:prstGeom>
        </p:spPr>
        <p:txBody>
          <a:bodyPr>
            <a:prstTxWarp prst="textPlain"/>
          </a:bodyPr>
          <a:lstStyle/>
          <a:p>
            <a:pPr lvl="0" algn="ctr"/>
            <a:r>
              <a:rPr b="0" i="0">
                <a:ln cap="flat" cmpd="sng" w="9525">
                  <a:solidFill>
                    <a:srgbClr val="6FA8DC"/>
                  </a:solidFill>
                  <a:prstDash val="solid"/>
                  <a:round/>
                  <a:headEnd len="sm" w="sm" type="none"/>
                  <a:tailEnd len="sm" w="sm" type="none"/>
                </a:ln>
                <a:solidFill>
                  <a:srgbClr val="6AA84F"/>
                </a:solidFill>
                <a:latin typeface="Arial"/>
              </a:rPr>
              <a:t>"Patents"</a:t>
            </a:r>
          </a:p>
        </p:txBody>
      </p:sp>
      <p:sp>
        <p:nvSpPr>
          <p:cNvPr id="217" name="Google Shape;217;p26"/>
          <p:cNvSpPr txBox="1"/>
          <p:nvPr>
            <p:ph type="title"/>
          </p:nvPr>
        </p:nvSpPr>
        <p:spPr>
          <a:xfrm>
            <a:off x="387900" y="1942900"/>
            <a:ext cx="8596800" cy="1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3800"/>
              <a:t>Feature-</a:t>
            </a:r>
            <a:endParaRPr sz="3800"/>
          </a:p>
          <a:p>
            <a:pPr indent="0" lvl="0" marL="0" rtl="0" algn="l">
              <a:spcBef>
                <a:spcPts val="0"/>
              </a:spcBef>
              <a:spcAft>
                <a:spcPts val="0"/>
              </a:spcAft>
              <a:buNone/>
            </a:pPr>
            <a:r>
              <a:rPr lang="zh-CN" sz="3800"/>
              <a:t>Knowledge and Technology Outputs</a:t>
            </a:r>
            <a:endParaRPr sz="3800"/>
          </a:p>
        </p:txBody>
      </p:sp>
      <p:sp>
        <p:nvSpPr>
          <p:cNvPr id="218" name="Google Shape;218;p26"/>
          <p:cNvSpPr txBox="1"/>
          <p:nvPr>
            <p:ph idx="1" type="body"/>
          </p:nvPr>
        </p:nvSpPr>
        <p:spPr>
          <a:xfrm>
            <a:off x="712800" y="87575"/>
            <a:ext cx="8280000" cy="1394400"/>
          </a:xfrm>
          <a:prstGeom prst="rect">
            <a:avLst/>
          </a:prstGeom>
        </p:spPr>
        <p:txBody>
          <a:bodyPr anchorCtr="0" anchor="t" bIns="91425" lIns="91425" spcFirstLastPara="1" rIns="91425" wrap="square" tIns="91425">
            <a:normAutofit fontScale="62500" lnSpcReduction="10000"/>
          </a:bodyPr>
          <a:lstStyle/>
          <a:p>
            <a:pPr indent="0" lvl="0" marL="0" rtl="0" algn="ctr">
              <a:spcBef>
                <a:spcPts val="0"/>
              </a:spcBef>
              <a:spcAft>
                <a:spcPts val="0"/>
              </a:spcAft>
              <a:buNone/>
            </a:pPr>
            <a:r>
              <a:rPr lang="zh-CN" sz="8998">
                <a:solidFill>
                  <a:srgbClr val="CFE2F3"/>
                </a:solidFill>
                <a:latin typeface="Trebuchet MS"/>
                <a:ea typeface="Trebuchet MS"/>
                <a:cs typeface="Trebuchet MS"/>
                <a:sym typeface="Trebuchet MS"/>
              </a:rPr>
              <a:t>“Patents”</a:t>
            </a:r>
            <a:endParaRPr sz="8998">
              <a:solidFill>
                <a:srgbClr val="CFE2F3"/>
              </a:solidFill>
              <a:latin typeface="Trebuchet MS"/>
              <a:ea typeface="Trebuchet MS"/>
              <a:cs typeface="Trebuchet MS"/>
              <a:sym typeface="Trebuchet MS"/>
            </a:endParaRPr>
          </a:p>
          <a:p>
            <a:pPr indent="0" lvl="0" marL="0" rtl="0" algn="l">
              <a:spcBef>
                <a:spcPts val="0"/>
              </a:spcBef>
              <a:spcAft>
                <a:spcPts val="0"/>
              </a:spcAft>
              <a:buNone/>
            </a:pPr>
            <a:r>
              <a:t/>
            </a:r>
            <a:endParaRPr sz="3000">
              <a:solidFill>
                <a:srgbClr val="CFE2F3"/>
              </a:solidFill>
              <a:latin typeface="Trebuchet MS"/>
              <a:ea typeface="Trebuchet MS"/>
              <a:cs typeface="Trebuchet MS"/>
              <a:sym typeface="Trebuchet MS"/>
            </a:endParaRPr>
          </a:p>
        </p:txBody>
      </p:sp>
      <p:sp>
        <p:nvSpPr>
          <p:cNvPr id="219" name="Google Shape;219;p26"/>
          <p:cNvSpPr/>
          <p:nvPr/>
        </p:nvSpPr>
        <p:spPr>
          <a:xfrm rot="-1677975">
            <a:off x="45683" y="736321"/>
            <a:ext cx="3181990" cy="584034"/>
          </a:xfrm>
          <a:prstGeom prst="rect">
            <a:avLst/>
          </a:prstGeom>
        </p:spPr>
        <p:txBody>
          <a:bodyPr>
            <a:prstTxWarp prst="textPlain"/>
          </a:bodyPr>
          <a:lstStyle/>
          <a:p>
            <a:pPr lvl="0" algn="ctr"/>
            <a:r>
              <a:rPr b="0" i="0">
                <a:ln cap="flat" cmpd="sng" w="9525">
                  <a:solidFill>
                    <a:srgbClr val="6FA8DC"/>
                  </a:solidFill>
                  <a:prstDash val="solid"/>
                  <a:round/>
                  <a:headEnd len="sm" w="sm" type="none"/>
                  <a:tailEnd len="sm" w="sm" type="none"/>
                </a:ln>
                <a:solidFill>
                  <a:srgbClr val="0B5394"/>
                </a:solidFill>
                <a:latin typeface="Arial"/>
              </a:rPr>
              <a:t>"Patents"</a:t>
            </a:r>
          </a:p>
        </p:txBody>
      </p:sp>
      <p:sp>
        <p:nvSpPr>
          <p:cNvPr id="220" name="Google Shape;220;p26"/>
          <p:cNvSpPr/>
          <p:nvPr/>
        </p:nvSpPr>
        <p:spPr>
          <a:xfrm rot="31">
            <a:off x="387900" y="3704641"/>
            <a:ext cx="3320728" cy="745845"/>
          </a:xfrm>
          <a:prstGeom prst="rect">
            <a:avLst/>
          </a:prstGeom>
        </p:spPr>
        <p:txBody>
          <a:bodyPr>
            <a:prstTxWarp prst="textPlain"/>
          </a:bodyPr>
          <a:lstStyle/>
          <a:p>
            <a:pPr lvl="0" algn="ctr"/>
            <a:r>
              <a:rPr b="0" i="0">
                <a:ln cap="flat" cmpd="sng" w="9525">
                  <a:solidFill>
                    <a:srgbClr val="CFE2F3"/>
                  </a:solidFill>
                  <a:prstDash val="solid"/>
                  <a:round/>
                  <a:headEnd len="sm" w="sm" type="none"/>
                  <a:tailEnd len="sm" w="sm" type="none"/>
                </a:ln>
                <a:solidFill>
                  <a:srgbClr val="FFF2CC"/>
                </a:solidFill>
                <a:latin typeface="Arial"/>
              </a:rPr>
              <a:t>"Patents"</a:t>
            </a:r>
          </a:p>
        </p:txBody>
      </p:sp>
      <p:sp>
        <p:nvSpPr>
          <p:cNvPr id="221" name="Google Shape;221;p26"/>
          <p:cNvSpPr/>
          <p:nvPr/>
        </p:nvSpPr>
        <p:spPr>
          <a:xfrm rot="821181">
            <a:off x="2685109" y="1482059"/>
            <a:ext cx="2209884" cy="526651"/>
          </a:xfrm>
          <a:prstGeom prst="rect">
            <a:avLst/>
          </a:prstGeom>
        </p:spPr>
        <p:txBody>
          <a:bodyPr>
            <a:prstTxWarp prst="textPlain"/>
          </a:bodyPr>
          <a:lstStyle/>
          <a:p>
            <a:pPr lvl="0" algn="ctr"/>
            <a:r>
              <a:rPr b="0" i="0">
                <a:ln cap="flat" cmpd="sng" w="9525">
                  <a:solidFill>
                    <a:srgbClr val="EAD1DC"/>
                  </a:solidFill>
                  <a:prstDash val="solid"/>
                  <a:round/>
                  <a:headEnd len="sm" w="sm" type="none"/>
                  <a:tailEnd len="sm" w="sm" type="none"/>
                </a:ln>
                <a:solidFill>
                  <a:srgbClr val="B4A7D6"/>
                </a:solidFill>
                <a:latin typeface="Arial"/>
              </a:rPr>
              <a:t>"Patents"</a:t>
            </a:r>
          </a:p>
        </p:txBody>
      </p:sp>
      <p:sp>
        <p:nvSpPr>
          <p:cNvPr id="222" name="Google Shape;222;p26"/>
          <p:cNvSpPr/>
          <p:nvPr/>
        </p:nvSpPr>
        <p:spPr>
          <a:xfrm rot="-1677950">
            <a:off x="3920092" y="4155720"/>
            <a:ext cx="2023145" cy="398437"/>
          </a:xfrm>
          <a:prstGeom prst="rect">
            <a:avLst/>
          </a:prstGeom>
        </p:spPr>
        <p:txBody>
          <a:bodyPr>
            <a:prstTxWarp prst="textPlain"/>
          </a:bodyPr>
          <a:lstStyle/>
          <a:p>
            <a:pPr lvl="0" algn="ctr"/>
            <a:r>
              <a:rPr b="0" i="0">
                <a:ln cap="flat" cmpd="sng" w="9525">
                  <a:solidFill>
                    <a:srgbClr val="45818E"/>
                  </a:solidFill>
                  <a:prstDash val="solid"/>
                  <a:round/>
                  <a:headEnd len="sm" w="sm" type="none"/>
                  <a:tailEnd len="sm" w="sm" type="none"/>
                </a:ln>
                <a:solidFill>
                  <a:srgbClr val="B6D7A8"/>
                </a:solidFill>
                <a:latin typeface="Arial"/>
              </a:rPr>
              <a:t>"Patents"</a:t>
            </a:r>
          </a:p>
        </p:txBody>
      </p:sp>
      <p:sp>
        <p:nvSpPr>
          <p:cNvPr id="223" name="Google Shape;223;p26"/>
          <p:cNvSpPr/>
          <p:nvPr/>
        </p:nvSpPr>
        <p:spPr>
          <a:xfrm rot="395382">
            <a:off x="5870990" y="2113955"/>
            <a:ext cx="2585447" cy="452169"/>
          </a:xfrm>
          <a:prstGeom prst="rect">
            <a:avLst/>
          </a:prstGeom>
        </p:spPr>
        <p:txBody>
          <a:bodyPr>
            <a:prstTxWarp prst="textPlain"/>
          </a:bodyPr>
          <a:lstStyle/>
          <a:p>
            <a:pPr lvl="0" algn="ctr"/>
            <a:r>
              <a:rPr b="0" i="0">
                <a:ln cap="flat" cmpd="sng" w="9525">
                  <a:solidFill>
                    <a:srgbClr val="A64D79"/>
                  </a:solidFill>
                  <a:prstDash val="solid"/>
                  <a:round/>
                  <a:headEnd len="sm" w="sm" type="none"/>
                  <a:tailEnd len="sm" w="sm" type="none"/>
                </a:ln>
                <a:solidFill>
                  <a:srgbClr val="D5A6BD"/>
                </a:solidFill>
                <a:latin typeface="Arial"/>
              </a:rPr>
              <a:t>"Patents"</a:t>
            </a:r>
          </a:p>
        </p:txBody>
      </p:sp>
      <p:sp>
        <p:nvSpPr>
          <p:cNvPr id="224" name="Google Shape;224;p26"/>
          <p:cNvSpPr/>
          <p:nvPr/>
        </p:nvSpPr>
        <p:spPr>
          <a:xfrm rot="821190">
            <a:off x="6375043" y="3941236"/>
            <a:ext cx="2656720" cy="595170"/>
          </a:xfrm>
          <a:prstGeom prst="rect">
            <a:avLst/>
          </a:prstGeom>
        </p:spPr>
        <p:txBody>
          <a:bodyPr>
            <a:prstTxWarp prst="textPlain"/>
          </a:bodyPr>
          <a:lstStyle/>
          <a:p>
            <a:pPr lvl="0" algn="ctr"/>
            <a:r>
              <a:rPr b="0" i="0">
                <a:ln cap="flat" cmpd="sng" w="9525">
                  <a:solidFill>
                    <a:srgbClr val="D0E0E3"/>
                  </a:solidFill>
                  <a:prstDash val="solid"/>
                  <a:round/>
                  <a:headEnd len="sm" w="sm" type="none"/>
                  <a:tailEnd len="sm" w="sm" type="none"/>
                </a:ln>
                <a:solidFill>
                  <a:srgbClr val="A2C4C9"/>
                </a:solidFill>
                <a:latin typeface="Arial"/>
              </a:rPr>
              <a:t>"Patents"</a:t>
            </a:r>
          </a:p>
        </p:txBody>
      </p:sp>
      <p:pic>
        <p:nvPicPr>
          <p:cNvPr id="225" name="Google Shape;225;p26"/>
          <p:cNvPicPr preferRelativeResize="0"/>
          <p:nvPr/>
        </p:nvPicPr>
        <p:blipFill>
          <a:blip r:embed="rId4">
            <a:alphaModFix/>
          </a:blip>
          <a:stretch>
            <a:fillRect/>
          </a:stretch>
        </p:blipFill>
        <p:spPr>
          <a:xfrm>
            <a:off x="10880" y="0"/>
            <a:ext cx="9122239" cy="5143500"/>
          </a:xfrm>
          <a:prstGeom prst="rect">
            <a:avLst/>
          </a:prstGeom>
          <a:noFill/>
          <a:ln>
            <a:noFill/>
          </a:ln>
        </p:spPr>
      </p:pic>
      <p:sp>
        <p:nvSpPr>
          <p:cNvPr id="226" name="Google Shape;226;p26"/>
          <p:cNvSpPr txBox="1"/>
          <p:nvPr/>
        </p:nvSpPr>
        <p:spPr>
          <a:xfrm>
            <a:off x="813750" y="1496175"/>
            <a:ext cx="75165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zh-CN" sz="3600">
                <a:solidFill>
                  <a:srgbClr val="F3F3F3"/>
                </a:solidFill>
                <a:latin typeface="Times"/>
                <a:ea typeface="Times"/>
                <a:cs typeface="Times"/>
                <a:sym typeface="Times"/>
              </a:rPr>
              <a:t>Feature-Knowledge &amp; Technology </a:t>
            </a:r>
            <a:endParaRPr b="1" sz="3600">
              <a:solidFill>
                <a:srgbClr val="F3F3F3"/>
              </a:solidFill>
              <a:latin typeface="Times"/>
              <a:ea typeface="Times"/>
              <a:cs typeface="Times"/>
              <a:sym typeface="Times"/>
            </a:endParaRPr>
          </a:p>
          <a:p>
            <a:pPr indent="0" lvl="0" marL="0" rtl="0" algn="ctr">
              <a:spcBef>
                <a:spcPts val="0"/>
              </a:spcBef>
              <a:spcAft>
                <a:spcPts val="0"/>
              </a:spcAft>
              <a:buNone/>
            </a:pPr>
            <a:r>
              <a:rPr b="1" lang="zh-CN" sz="3600">
                <a:solidFill>
                  <a:srgbClr val="F3F3F3"/>
                </a:solidFill>
                <a:latin typeface="Times"/>
                <a:ea typeface="Times"/>
                <a:cs typeface="Times"/>
                <a:sym typeface="Times"/>
              </a:rPr>
              <a:t>Outputs</a:t>
            </a:r>
            <a:endParaRPr b="1" sz="3600">
              <a:solidFill>
                <a:srgbClr val="F3F3F3"/>
              </a:solidFill>
              <a:latin typeface="Times"/>
              <a:ea typeface="Times"/>
              <a:cs typeface="Times"/>
              <a:sym typeface="Times"/>
            </a:endParaRPr>
          </a:p>
        </p:txBody>
      </p:sp>
      <p:sp>
        <p:nvSpPr>
          <p:cNvPr id="227" name="Google Shape;227;p26"/>
          <p:cNvSpPr txBox="1"/>
          <p:nvPr/>
        </p:nvSpPr>
        <p:spPr>
          <a:xfrm>
            <a:off x="813750" y="2931750"/>
            <a:ext cx="7516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zh-CN" sz="2400">
                <a:solidFill>
                  <a:srgbClr val="F3F3F3"/>
                </a:solidFill>
                <a:latin typeface="Times"/>
                <a:ea typeface="Times"/>
                <a:cs typeface="Times"/>
                <a:sym typeface="Times"/>
              </a:rPr>
              <a:t>Patent</a:t>
            </a:r>
            <a:endParaRPr b="1" i="1" sz="2400">
              <a:solidFill>
                <a:srgbClr val="F3F3F3"/>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7"/>
          <p:cNvPicPr preferRelativeResize="0"/>
          <p:nvPr/>
        </p:nvPicPr>
        <p:blipFill>
          <a:blip r:embed="rId3">
            <a:alphaModFix/>
          </a:blip>
          <a:stretch>
            <a:fillRect/>
          </a:stretch>
        </p:blipFill>
        <p:spPr>
          <a:xfrm>
            <a:off x="141025" y="1517400"/>
            <a:ext cx="6450827" cy="2827400"/>
          </a:xfrm>
          <a:prstGeom prst="rect">
            <a:avLst/>
          </a:prstGeom>
          <a:noFill/>
          <a:ln>
            <a:noFill/>
          </a:ln>
        </p:spPr>
      </p:pic>
      <p:sp>
        <p:nvSpPr>
          <p:cNvPr id="233" name="Google Shape;233;p27"/>
          <p:cNvSpPr txBox="1"/>
          <p:nvPr/>
        </p:nvSpPr>
        <p:spPr>
          <a:xfrm flipH="1">
            <a:off x="1043225" y="1879875"/>
            <a:ext cx="3144000" cy="615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zh-CN">
                <a:solidFill>
                  <a:schemeClr val="dk1"/>
                </a:solidFill>
                <a:latin typeface="Times"/>
                <a:ea typeface="Times"/>
                <a:cs typeface="Times"/>
                <a:sym typeface="Times"/>
              </a:rPr>
              <a:t>There was a marked increase in both applications and grants after 1980.</a:t>
            </a:r>
            <a:endParaRPr b="1">
              <a:solidFill>
                <a:schemeClr val="dk1"/>
              </a:solidFill>
              <a:latin typeface="Times"/>
              <a:ea typeface="Times"/>
              <a:cs typeface="Times"/>
              <a:sym typeface="Times"/>
            </a:endParaRPr>
          </a:p>
        </p:txBody>
      </p:sp>
      <p:sp>
        <p:nvSpPr>
          <p:cNvPr id="234" name="Google Shape;234;p27"/>
          <p:cNvSpPr txBox="1"/>
          <p:nvPr>
            <p:ph type="title"/>
          </p:nvPr>
        </p:nvSpPr>
        <p:spPr>
          <a:xfrm>
            <a:off x="409275" y="169850"/>
            <a:ext cx="859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Patent Numbers &amp; Total Grants in The USA, 1931 to 2020</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p:txBody>
      </p:sp>
      <p:sp>
        <p:nvSpPr>
          <p:cNvPr id="235" name="Google Shape;235;p27"/>
          <p:cNvSpPr txBox="1"/>
          <p:nvPr/>
        </p:nvSpPr>
        <p:spPr>
          <a:xfrm>
            <a:off x="409275" y="645900"/>
            <a:ext cx="859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Time Series Analysis of Knowledge and Technology Outputs Data: Analyze the U.S patents data, which represent a key indicator of knowledge and technology output.</a:t>
            </a:r>
            <a:endParaRPr b="1" sz="1300">
              <a:solidFill>
                <a:srgbClr val="343541"/>
              </a:solidFill>
              <a:latin typeface="Times"/>
              <a:ea typeface="Times"/>
              <a:cs typeface="Times"/>
              <a:sym typeface="Times"/>
            </a:endParaRPr>
          </a:p>
        </p:txBody>
      </p:sp>
      <p:cxnSp>
        <p:nvCxnSpPr>
          <p:cNvPr id="236" name="Google Shape;236;p27"/>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cxnSp>
        <p:nvCxnSpPr>
          <p:cNvPr id="237" name="Google Shape;237;p27"/>
          <p:cNvCxnSpPr/>
          <p:nvPr/>
        </p:nvCxnSpPr>
        <p:spPr>
          <a:xfrm flipH="1" rot="10800000">
            <a:off x="3759498" y="2121285"/>
            <a:ext cx="1388700" cy="1353600"/>
          </a:xfrm>
          <a:prstGeom prst="straightConnector1">
            <a:avLst/>
          </a:prstGeom>
          <a:noFill/>
          <a:ln cap="flat" cmpd="sng" w="38100">
            <a:solidFill>
              <a:srgbClr val="9FC5E8"/>
            </a:solidFill>
            <a:prstDash val="dash"/>
            <a:round/>
            <a:headEnd len="med" w="med" type="none"/>
            <a:tailEnd len="med" w="med" type="triangle"/>
          </a:ln>
        </p:spPr>
      </p:cxnSp>
      <p:pic>
        <p:nvPicPr>
          <p:cNvPr id="238" name="Google Shape;238;p27"/>
          <p:cNvPicPr preferRelativeResize="0"/>
          <p:nvPr/>
        </p:nvPicPr>
        <p:blipFill>
          <a:blip r:embed="rId4">
            <a:alphaModFix/>
          </a:blip>
          <a:stretch>
            <a:fillRect/>
          </a:stretch>
        </p:blipFill>
        <p:spPr>
          <a:xfrm>
            <a:off x="6608500" y="1236750"/>
            <a:ext cx="2350851" cy="1626479"/>
          </a:xfrm>
          <a:prstGeom prst="rect">
            <a:avLst/>
          </a:prstGeom>
          <a:noFill/>
          <a:ln>
            <a:noFill/>
          </a:ln>
        </p:spPr>
      </p:pic>
      <p:cxnSp>
        <p:nvCxnSpPr>
          <p:cNvPr id="239" name="Google Shape;239;p27"/>
          <p:cNvCxnSpPr/>
          <p:nvPr/>
        </p:nvCxnSpPr>
        <p:spPr>
          <a:xfrm>
            <a:off x="6591850" y="1160550"/>
            <a:ext cx="9300" cy="3555900"/>
          </a:xfrm>
          <a:prstGeom prst="straightConnector1">
            <a:avLst/>
          </a:prstGeom>
          <a:noFill/>
          <a:ln cap="flat" cmpd="sng" w="19050">
            <a:solidFill>
              <a:srgbClr val="6FA8DC"/>
            </a:solidFill>
            <a:prstDash val="dash"/>
            <a:round/>
            <a:headEnd len="med" w="med" type="none"/>
            <a:tailEnd len="med" w="med" type="none"/>
          </a:ln>
        </p:spPr>
      </p:cxnSp>
      <p:pic>
        <p:nvPicPr>
          <p:cNvPr id="240" name="Google Shape;240;p27"/>
          <p:cNvPicPr preferRelativeResize="0"/>
          <p:nvPr/>
        </p:nvPicPr>
        <p:blipFill rotWithShape="1">
          <a:blip r:embed="rId5">
            <a:alphaModFix/>
          </a:blip>
          <a:srcRect b="0" l="3035" r="0" t="2987"/>
          <a:stretch/>
        </p:blipFill>
        <p:spPr>
          <a:xfrm>
            <a:off x="6658150" y="2942850"/>
            <a:ext cx="2275224" cy="2030195"/>
          </a:xfrm>
          <a:prstGeom prst="rect">
            <a:avLst/>
          </a:prstGeom>
          <a:noFill/>
          <a:ln>
            <a:noFill/>
          </a:ln>
        </p:spPr>
      </p:pic>
      <p:sp>
        <p:nvSpPr>
          <p:cNvPr id="241" name="Google Shape;241;p27"/>
          <p:cNvSpPr txBox="1"/>
          <p:nvPr/>
        </p:nvSpPr>
        <p:spPr>
          <a:xfrm>
            <a:off x="6835175" y="935800"/>
            <a:ext cx="2098200" cy="22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1000">
                <a:solidFill>
                  <a:srgbClr val="073763"/>
                </a:solidFill>
                <a:latin typeface="Times"/>
                <a:ea typeface="Times"/>
                <a:cs typeface="Times"/>
                <a:sym typeface="Times"/>
              </a:rPr>
              <a:t>Patents of USA, Total&amp;Types</a:t>
            </a:r>
            <a:endParaRPr b="1" sz="1000">
              <a:solidFill>
                <a:srgbClr val="073763"/>
              </a:solidFill>
              <a:latin typeface="Times"/>
              <a:ea typeface="Times"/>
              <a:cs typeface="Times"/>
              <a:sym typeface="Times"/>
            </a:endParaRPr>
          </a:p>
        </p:txBody>
      </p:sp>
      <p:sp>
        <p:nvSpPr>
          <p:cNvPr id="242" name="Google Shape;242;p27"/>
          <p:cNvSpPr txBox="1"/>
          <p:nvPr/>
        </p:nvSpPr>
        <p:spPr>
          <a:xfrm>
            <a:off x="816150" y="4365250"/>
            <a:ext cx="4887300" cy="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900">
                <a:latin typeface="Times"/>
                <a:ea typeface="Times"/>
                <a:cs typeface="Times"/>
                <a:sym typeface="Times"/>
              </a:rPr>
              <a:t>Source:</a:t>
            </a:r>
            <a:r>
              <a:rPr lang="zh-CN" sz="900">
                <a:solidFill>
                  <a:schemeClr val="dk2"/>
                </a:solidFill>
                <a:latin typeface="Times"/>
                <a:ea typeface="Times"/>
                <a:cs typeface="Times"/>
                <a:sym typeface="Times"/>
              </a:rPr>
              <a:t> </a:t>
            </a:r>
            <a:r>
              <a:rPr lang="zh-CN" sz="900">
                <a:solidFill>
                  <a:schemeClr val="dk1"/>
                </a:solidFill>
                <a:latin typeface="Times"/>
                <a:ea typeface="Times"/>
                <a:cs typeface="Times"/>
                <a:sym typeface="Times"/>
              </a:rPr>
              <a:t>United States Patent and Trademark Office. (n.d.). </a:t>
            </a:r>
            <a:r>
              <a:rPr i="1" lang="zh-CN" sz="900">
                <a:solidFill>
                  <a:schemeClr val="dk1"/>
                </a:solidFill>
                <a:latin typeface="Times"/>
                <a:ea typeface="Times"/>
                <a:cs typeface="Times"/>
                <a:sym typeface="Times"/>
              </a:rPr>
              <a:t>U.S. Patent Statistics Chart</a:t>
            </a:r>
            <a:r>
              <a:rPr lang="zh-CN" sz="900">
                <a:solidFill>
                  <a:schemeClr val="dk1"/>
                </a:solidFill>
                <a:latin typeface="Times"/>
                <a:ea typeface="Times"/>
                <a:cs typeface="Times"/>
                <a:sym typeface="Times"/>
              </a:rPr>
              <a:t>. Retrieved from	</a:t>
            </a:r>
            <a:r>
              <a:rPr lang="zh-CN" sz="900">
                <a:solidFill>
                  <a:schemeClr val="dk1"/>
                </a:solidFill>
                <a:uFill>
                  <a:noFill/>
                </a:uFill>
                <a:latin typeface="Times"/>
                <a:ea typeface="Times"/>
                <a:cs typeface="Times"/>
                <a:sym typeface="Times"/>
                <a:hlinkClick r:id="rId6">
                  <a:extLst>
                    <a:ext uri="{A12FA001-AC4F-418D-AE19-62706E023703}">
                      <ahyp:hlinkClr val="tx"/>
                    </a:ext>
                  </a:extLst>
                </a:hlinkClick>
              </a:rPr>
              <a:t>https://www.uspto.gov/web/offices/ac/ido/oeip/taf/us_stat.htm</a:t>
            </a:r>
            <a:endParaRPr sz="900">
              <a:solidFill>
                <a:schemeClr val="dk1"/>
              </a:solidFill>
              <a:latin typeface="Times"/>
              <a:ea typeface="Times"/>
              <a:cs typeface="Times"/>
              <a:sym typeface="Times"/>
            </a:endParaRPr>
          </a:p>
          <a:p>
            <a:pPr indent="0" lvl="0" marL="0" rtl="0" algn="l">
              <a:spcBef>
                <a:spcPts val="0"/>
              </a:spcBef>
              <a:spcAft>
                <a:spcPts val="0"/>
              </a:spcAft>
              <a:buNone/>
            </a:pPr>
            <a:r>
              <a:t/>
            </a:r>
            <a:endParaRPr sz="900">
              <a:solidFill>
                <a:schemeClr val="dk2"/>
              </a:solidFill>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8"/>
          <p:cNvPicPr preferRelativeResize="0"/>
          <p:nvPr/>
        </p:nvPicPr>
        <p:blipFill>
          <a:blip r:embed="rId3">
            <a:alphaModFix/>
          </a:blip>
          <a:stretch>
            <a:fillRect/>
          </a:stretch>
        </p:blipFill>
        <p:spPr>
          <a:xfrm>
            <a:off x="659062" y="361463"/>
            <a:ext cx="7825867" cy="44205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9"/>
          <p:cNvPicPr preferRelativeResize="0"/>
          <p:nvPr/>
        </p:nvPicPr>
        <p:blipFill>
          <a:blip r:embed="rId3">
            <a:alphaModFix/>
          </a:blip>
          <a:stretch>
            <a:fillRect/>
          </a:stretch>
        </p:blipFill>
        <p:spPr>
          <a:xfrm>
            <a:off x="0" y="8348"/>
            <a:ext cx="9143998" cy="5126803"/>
          </a:xfrm>
          <a:prstGeom prst="rect">
            <a:avLst/>
          </a:prstGeom>
          <a:noFill/>
          <a:ln>
            <a:noFill/>
          </a:ln>
        </p:spPr>
      </p:pic>
      <p:graphicFrame>
        <p:nvGraphicFramePr>
          <p:cNvPr id="253" name="Google Shape;253;p29"/>
          <p:cNvGraphicFramePr/>
          <p:nvPr/>
        </p:nvGraphicFramePr>
        <p:xfrm>
          <a:off x="952500" y="1630275"/>
          <a:ext cx="3000000" cy="3000000"/>
        </p:xfrm>
        <a:graphic>
          <a:graphicData uri="http://schemas.openxmlformats.org/drawingml/2006/table">
            <a:tbl>
              <a:tblPr>
                <a:noFill/>
                <a:tableStyleId>{FF8FEB33-2D82-48AA-A10A-3A5789565198}</a:tableStyleId>
              </a:tblPr>
              <a:tblGrid>
                <a:gridCol w="3926075"/>
                <a:gridCol w="3312925"/>
              </a:tblGrid>
              <a:tr h="381000">
                <a:tc>
                  <a:txBody>
                    <a:bodyPr/>
                    <a:lstStyle/>
                    <a:p>
                      <a:pPr indent="0" lvl="0" marL="0" rtl="0" algn="ctr">
                        <a:spcBef>
                          <a:spcPts val="0"/>
                        </a:spcBef>
                        <a:spcAft>
                          <a:spcPts val="0"/>
                        </a:spcAft>
                        <a:buNone/>
                      </a:pPr>
                      <a:r>
                        <a:rPr b="1" lang="zh-CN" sz="1800">
                          <a:solidFill>
                            <a:schemeClr val="dk1"/>
                          </a:solidFill>
                          <a:latin typeface="Times"/>
                          <a:ea typeface="Times"/>
                          <a:cs typeface="Times"/>
                          <a:sym typeface="Times"/>
                        </a:rPr>
                        <a:t>Model</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zh-CN" sz="1800">
                          <a:solidFill>
                            <a:schemeClr val="dk1"/>
                          </a:solidFill>
                          <a:latin typeface="Times"/>
                          <a:ea typeface="Times"/>
                          <a:cs typeface="Times"/>
                          <a:sym typeface="Times"/>
                        </a:rPr>
                        <a:t>MSE</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r>
              <a:tr h="390725">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ARIMA(1,1,1)</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0.0019</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r>
              <a:tr h="381000">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Simple Exponential Smoothing</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0.0014</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r>
              <a:tr h="381000">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Double Exponential Smoothing,</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0.0217</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r>
              <a:tr h="381000">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Additive Holt-Winters</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zh-CN" sz="1800">
                          <a:solidFill>
                            <a:schemeClr val="dk1"/>
                          </a:solidFill>
                          <a:latin typeface="Times"/>
                          <a:ea typeface="Times"/>
                          <a:cs typeface="Times"/>
                          <a:sym typeface="Times"/>
                        </a:rPr>
                        <a:t>0.0039</a:t>
                      </a:r>
                      <a:endParaRPr b="1" sz="1800">
                        <a:solidFill>
                          <a:schemeClr val="dk1"/>
                        </a:solidFill>
                        <a:latin typeface="Times"/>
                        <a:ea typeface="Times"/>
                        <a:cs typeface="Times"/>
                        <a:sym typeface="Times"/>
                      </a:endParaRPr>
                    </a:p>
                  </a:txBody>
                  <a:tcPr marT="91425" marB="91425" marR="91425" marL="91425">
                    <a:lnL cap="flat" cmpd="sng" w="28575">
                      <a:solidFill>
                        <a:srgbClr val="0B5394"/>
                      </a:solidFill>
                      <a:prstDash val="solid"/>
                      <a:round/>
                      <a:headEnd len="sm" w="sm" type="none"/>
                      <a:tailEnd len="sm" w="sm" type="none"/>
                    </a:lnL>
                    <a:lnR cap="flat" cmpd="sng" w="28575">
                      <a:solidFill>
                        <a:srgbClr val="0B5394"/>
                      </a:solidFill>
                      <a:prstDash val="solid"/>
                      <a:round/>
                      <a:headEnd len="sm" w="sm" type="none"/>
                      <a:tailEnd len="sm" w="sm" type="none"/>
                    </a:lnR>
                    <a:lnT cap="flat" cmpd="sng" w="28575">
                      <a:solidFill>
                        <a:srgbClr val="0B5394"/>
                      </a:solidFill>
                      <a:prstDash val="solid"/>
                      <a:round/>
                      <a:headEnd len="sm" w="sm" type="none"/>
                      <a:tailEnd len="sm" w="sm" type="none"/>
                    </a:lnT>
                    <a:lnB cap="flat" cmpd="sng" w="28575">
                      <a:solidFill>
                        <a:srgbClr val="0B5394"/>
                      </a:solidFill>
                      <a:prstDash val="solid"/>
                      <a:round/>
                      <a:headEnd len="sm" w="sm" type="none"/>
                      <a:tailEnd len="sm" w="sm" type="none"/>
                    </a:lnB>
                    <a:solidFill>
                      <a:srgbClr val="9FC5E8"/>
                    </a:solidFill>
                  </a:tcPr>
                </a:tc>
              </a:tr>
            </a:tbl>
          </a:graphicData>
        </a:graphic>
      </p:graphicFrame>
      <p:sp>
        <p:nvSpPr>
          <p:cNvPr id="254" name="Google Shape;254;p29"/>
          <p:cNvSpPr/>
          <p:nvPr/>
        </p:nvSpPr>
        <p:spPr>
          <a:xfrm>
            <a:off x="7009250" y="2570060"/>
            <a:ext cx="397500" cy="406200"/>
          </a:xfrm>
          <a:prstGeom prst="star5">
            <a:avLst>
              <a:gd fmla="val 19098" name="adj"/>
              <a:gd fmla="val 105146" name="hf"/>
              <a:gd fmla="val 110557" name="vf"/>
            </a:avLst>
          </a:prstGeom>
          <a:solidFill>
            <a:srgbClr val="3D85C6"/>
          </a:solidFill>
          <a:ln cap="flat" cmpd="sng" w="2857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D966"/>
              </a:solidFill>
              <a:highlight>
                <a:srgbClr val="F1C232"/>
              </a:highlight>
              <a:latin typeface="Roboto"/>
              <a:ea typeface="Roboto"/>
              <a:cs typeface="Roboto"/>
              <a:sym typeface="Roboto"/>
            </a:endParaRPr>
          </a:p>
        </p:txBody>
      </p:sp>
      <p:sp>
        <p:nvSpPr>
          <p:cNvPr id="255" name="Google Shape;255;p29"/>
          <p:cNvSpPr txBox="1"/>
          <p:nvPr>
            <p:ph type="title"/>
          </p:nvPr>
        </p:nvSpPr>
        <p:spPr>
          <a:xfrm>
            <a:off x="409275" y="169850"/>
            <a:ext cx="859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Patent Numbers in The USA, Time Series Model</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p:txBody>
      </p:sp>
      <p:sp>
        <p:nvSpPr>
          <p:cNvPr id="256" name="Google Shape;256;p29"/>
          <p:cNvSpPr txBox="1"/>
          <p:nvPr/>
        </p:nvSpPr>
        <p:spPr>
          <a:xfrm>
            <a:off x="409275" y="645900"/>
            <a:ext cx="859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Analysis the U.S. patent growth rate by various time series models, revealing the nature of the data and further forecasting.</a:t>
            </a:r>
            <a:endParaRPr b="1" sz="1300">
              <a:solidFill>
                <a:srgbClr val="343541"/>
              </a:solidFill>
              <a:latin typeface="Times"/>
              <a:ea typeface="Times"/>
              <a:cs typeface="Times"/>
              <a:sym typeface="Times"/>
            </a:endParaRPr>
          </a:p>
        </p:txBody>
      </p:sp>
      <p:cxnSp>
        <p:nvCxnSpPr>
          <p:cNvPr id="257" name="Google Shape;257;p29"/>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idx="1" type="body"/>
          </p:nvPr>
        </p:nvSpPr>
        <p:spPr>
          <a:xfrm>
            <a:off x="4104225" y="1534225"/>
            <a:ext cx="4081200" cy="2435700"/>
          </a:xfrm>
          <a:prstGeom prst="rect">
            <a:avLst/>
          </a:prstGeom>
        </p:spPr>
        <p:txBody>
          <a:bodyPr anchorCtr="0" anchor="t" bIns="91425" lIns="91425" spcFirstLastPara="1" rIns="91425" wrap="square" tIns="91425">
            <a:normAutofit fontScale="92500" lnSpcReduction="10000"/>
          </a:bodyPr>
          <a:lstStyle/>
          <a:p>
            <a:pPr indent="0" lvl="0" marL="0" rtl="0" algn="just">
              <a:lnSpc>
                <a:spcPct val="150000"/>
              </a:lnSpc>
              <a:spcBef>
                <a:spcPts val="0"/>
              </a:spcBef>
              <a:spcAft>
                <a:spcPts val="1200"/>
              </a:spcAft>
              <a:buSzPct val="41008"/>
              <a:buNone/>
            </a:pPr>
            <a:r>
              <a:rPr lang="zh-CN" sz="2280">
                <a:solidFill>
                  <a:srgbClr val="0F0F0F"/>
                </a:solidFill>
                <a:latin typeface="Times"/>
                <a:ea typeface="Times"/>
                <a:cs typeface="Times"/>
                <a:sym typeface="Times"/>
              </a:rPr>
              <a:t>Our predictive modeling forecasts a growth rate of </a:t>
            </a:r>
            <a:r>
              <a:rPr b="1" lang="zh-CN" sz="2620">
                <a:solidFill>
                  <a:srgbClr val="1C4587"/>
                </a:solidFill>
                <a:latin typeface="Times"/>
                <a:ea typeface="Times"/>
                <a:cs typeface="Times"/>
                <a:sym typeface="Times"/>
              </a:rPr>
              <a:t>2.68%</a:t>
            </a:r>
            <a:r>
              <a:rPr lang="zh-CN" sz="2620">
                <a:solidFill>
                  <a:srgbClr val="0F0F0F"/>
                </a:solidFill>
                <a:latin typeface="Times"/>
                <a:ea typeface="Times"/>
                <a:cs typeface="Times"/>
                <a:sym typeface="Times"/>
              </a:rPr>
              <a:t> </a:t>
            </a:r>
            <a:r>
              <a:rPr lang="zh-CN" sz="2280">
                <a:solidFill>
                  <a:srgbClr val="0F0F0F"/>
                </a:solidFill>
                <a:latin typeface="Times"/>
                <a:ea typeface="Times"/>
                <a:cs typeface="Times"/>
                <a:sym typeface="Times"/>
              </a:rPr>
              <a:t>for the next decade in Canada, influenced by analogous U.S. policies that are expected to stimulate patent growth.</a:t>
            </a:r>
            <a:endParaRPr sz="2280">
              <a:solidFill>
                <a:srgbClr val="0F0F0F"/>
              </a:solidFill>
              <a:latin typeface="Times"/>
              <a:ea typeface="Times"/>
              <a:cs typeface="Times"/>
              <a:sym typeface="Times"/>
            </a:endParaRPr>
          </a:p>
        </p:txBody>
      </p:sp>
      <p:sp>
        <p:nvSpPr>
          <p:cNvPr id="263" name="Google Shape;263;p30"/>
          <p:cNvSpPr/>
          <p:nvPr/>
        </p:nvSpPr>
        <p:spPr>
          <a:xfrm>
            <a:off x="2994250" y="2506625"/>
            <a:ext cx="452400" cy="596100"/>
          </a:xfrm>
          <a:prstGeom prst="upArrow">
            <a:avLst>
              <a:gd fmla="val 50000" name="adj1"/>
              <a:gd fmla="val 50000" name="adj2"/>
            </a:avLst>
          </a:prstGeom>
          <a:solidFill>
            <a:srgbClr val="9FC5E8"/>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30"/>
          <p:cNvSpPr txBox="1"/>
          <p:nvPr>
            <p:ph type="title"/>
          </p:nvPr>
        </p:nvSpPr>
        <p:spPr>
          <a:xfrm>
            <a:off x="409275" y="169850"/>
            <a:ext cx="859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Model Prediction</a:t>
            </a:r>
            <a:r>
              <a:rPr b="1" lang="zh-CN">
                <a:solidFill>
                  <a:srgbClr val="1C4587"/>
                </a:solidFill>
                <a:latin typeface="Times"/>
                <a:ea typeface="Times"/>
                <a:cs typeface="Times"/>
                <a:sym typeface="Times"/>
              </a:rPr>
              <a:t> &amp; Further Policies Implement</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a:p>
            <a:pPr indent="0" lvl="0" marL="0" rtl="0" algn="l">
              <a:spcBef>
                <a:spcPts val="0"/>
              </a:spcBef>
              <a:spcAft>
                <a:spcPts val="0"/>
              </a:spcAft>
              <a:buNone/>
            </a:pPr>
            <a:r>
              <a:t/>
            </a:r>
            <a:endParaRPr b="1">
              <a:solidFill>
                <a:srgbClr val="1C4587"/>
              </a:solidFill>
              <a:latin typeface="Times"/>
              <a:ea typeface="Times"/>
              <a:cs typeface="Times"/>
              <a:sym typeface="Times"/>
            </a:endParaRPr>
          </a:p>
        </p:txBody>
      </p:sp>
      <p:cxnSp>
        <p:nvCxnSpPr>
          <p:cNvPr id="265" name="Google Shape;265;p30"/>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pic>
        <p:nvPicPr>
          <p:cNvPr id="266" name="Google Shape;266;p30"/>
          <p:cNvPicPr preferRelativeResize="0"/>
          <p:nvPr/>
        </p:nvPicPr>
        <p:blipFill>
          <a:blip r:embed="rId3">
            <a:alphaModFix/>
          </a:blip>
          <a:stretch>
            <a:fillRect/>
          </a:stretch>
        </p:blipFill>
        <p:spPr>
          <a:xfrm>
            <a:off x="886050" y="1424125"/>
            <a:ext cx="2680175" cy="2624900"/>
          </a:xfrm>
          <a:prstGeom prst="rect">
            <a:avLst/>
          </a:prstGeom>
          <a:noFill/>
          <a:ln>
            <a:noFill/>
          </a:ln>
        </p:spPr>
      </p:pic>
      <p:pic>
        <p:nvPicPr>
          <p:cNvPr id="267" name="Google Shape;267;p30"/>
          <p:cNvPicPr preferRelativeResize="0"/>
          <p:nvPr/>
        </p:nvPicPr>
        <p:blipFill>
          <a:blip r:embed="rId4">
            <a:alphaModFix/>
          </a:blip>
          <a:stretch>
            <a:fillRect/>
          </a:stretch>
        </p:blipFill>
        <p:spPr>
          <a:xfrm>
            <a:off x="1265950" y="3411350"/>
            <a:ext cx="465022" cy="284700"/>
          </a:xfrm>
          <a:prstGeom prst="rect">
            <a:avLst/>
          </a:prstGeom>
          <a:noFill/>
          <a:ln>
            <a:noFill/>
          </a:ln>
        </p:spPr>
      </p:pic>
      <p:pic>
        <p:nvPicPr>
          <p:cNvPr id="268" name="Google Shape;268;p30"/>
          <p:cNvPicPr preferRelativeResize="0"/>
          <p:nvPr/>
        </p:nvPicPr>
        <p:blipFill>
          <a:blip r:embed="rId5">
            <a:alphaModFix/>
          </a:blip>
          <a:stretch>
            <a:fillRect/>
          </a:stretch>
        </p:blipFill>
        <p:spPr>
          <a:xfrm>
            <a:off x="2779650" y="3411345"/>
            <a:ext cx="438375" cy="28471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335"/>
        </a:solidFill>
      </p:bgPr>
    </p:bg>
    <p:spTree>
      <p:nvGrpSpPr>
        <p:cNvPr id="272" name="Shape 272"/>
        <p:cNvGrpSpPr/>
        <p:nvPr/>
      </p:nvGrpSpPr>
      <p:grpSpPr>
        <a:xfrm>
          <a:off x="0" y="0"/>
          <a:ext cx="0" cy="0"/>
          <a:chOff x="0" y="0"/>
          <a:chExt cx="0" cy="0"/>
        </a:xfrm>
      </p:grpSpPr>
      <p:sp>
        <p:nvSpPr>
          <p:cNvPr id="273" name="Google Shape;27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4" name="Google Shape;27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5" name="Google Shape;275;p31"/>
          <p:cNvPicPr preferRelativeResize="0"/>
          <p:nvPr/>
        </p:nvPicPr>
        <p:blipFill>
          <a:blip r:embed="rId3">
            <a:alphaModFix/>
          </a:blip>
          <a:stretch>
            <a:fillRect/>
          </a:stretch>
        </p:blipFill>
        <p:spPr>
          <a:xfrm>
            <a:off x="0" y="132800"/>
            <a:ext cx="9144003" cy="48956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1" name="Google Shape;28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2" name="Google Shape;282;p32"/>
          <p:cNvPicPr preferRelativeResize="0"/>
          <p:nvPr/>
        </p:nvPicPr>
        <p:blipFill>
          <a:blip r:embed="rId3">
            <a:alphaModFix/>
          </a:blip>
          <a:stretch>
            <a:fillRect/>
          </a:stretch>
        </p:blipFill>
        <p:spPr>
          <a:xfrm>
            <a:off x="0" y="8064"/>
            <a:ext cx="9143998" cy="5127371"/>
          </a:xfrm>
          <a:prstGeom prst="rect">
            <a:avLst/>
          </a:prstGeom>
          <a:noFill/>
          <a:ln>
            <a:noFill/>
          </a:ln>
        </p:spPr>
      </p:pic>
      <p:sp>
        <p:nvSpPr>
          <p:cNvPr id="283" name="Google Shape;283;p32"/>
          <p:cNvSpPr txBox="1"/>
          <p:nvPr/>
        </p:nvSpPr>
        <p:spPr>
          <a:xfrm>
            <a:off x="1906175" y="1843750"/>
            <a:ext cx="5665500" cy="79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CN" sz="3600">
                <a:solidFill>
                  <a:srgbClr val="F3F3F3"/>
                </a:solidFill>
                <a:latin typeface="Times"/>
                <a:ea typeface="Times"/>
                <a:cs typeface="Times"/>
                <a:sym typeface="Times"/>
              </a:rPr>
              <a:t>Human Capital &amp; Research</a:t>
            </a:r>
            <a:endParaRPr b="1" sz="3600">
              <a:solidFill>
                <a:srgbClr val="F3F3F3"/>
              </a:solidFill>
              <a:latin typeface="Times"/>
              <a:ea typeface="Times"/>
              <a:cs typeface="Times"/>
              <a:sym typeface="Times"/>
            </a:endParaRPr>
          </a:p>
        </p:txBody>
      </p:sp>
      <p:sp>
        <p:nvSpPr>
          <p:cNvPr id="284" name="Google Shape;284;p32"/>
          <p:cNvSpPr txBox="1"/>
          <p:nvPr/>
        </p:nvSpPr>
        <p:spPr>
          <a:xfrm>
            <a:off x="1739250" y="2899150"/>
            <a:ext cx="5665500" cy="79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zh-CN" sz="2400">
                <a:solidFill>
                  <a:srgbClr val="F3F3F3"/>
                </a:solidFill>
                <a:latin typeface="Times"/>
                <a:ea typeface="Times"/>
                <a:cs typeface="Times"/>
                <a:sym typeface="Times"/>
              </a:rPr>
              <a:t>R&amp;D</a:t>
            </a:r>
            <a:endParaRPr b="1" i="1" sz="2400">
              <a:solidFill>
                <a:srgbClr val="F3F3F3"/>
              </a:solidFill>
              <a:latin typeface="Times"/>
              <a:ea typeface="Times"/>
              <a:cs typeface="Times"/>
              <a:sym typeface="Time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33"/>
          <p:cNvPicPr preferRelativeResize="0"/>
          <p:nvPr/>
        </p:nvPicPr>
        <p:blipFill>
          <a:blip r:embed="rId3">
            <a:alphaModFix/>
          </a:blip>
          <a:stretch>
            <a:fillRect/>
          </a:stretch>
        </p:blipFill>
        <p:spPr>
          <a:xfrm>
            <a:off x="3096425" y="1374025"/>
            <a:ext cx="5673126" cy="3219074"/>
          </a:xfrm>
          <a:prstGeom prst="rect">
            <a:avLst/>
          </a:prstGeom>
          <a:noFill/>
          <a:ln>
            <a:noFill/>
          </a:ln>
        </p:spPr>
      </p:pic>
      <p:sp>
        <p:nvSpPr>
          <p:cNvPr id="290" name="Google Shape;290;p33"/>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National Gross Domestic Spending on R&amp;D</a:t>
            </a:r>
            <a:endParaRPr b="1">
              <a:solidFill>
                <a:srgbClr val="1C4587"/>
              </a:solidFill>
              <a:latin typeface="Times"/>
              <a:ea typeface="Times"/>
              <a:cs typeface="Times"/>
              <a:sym typeface="Times"/>
            </a:endParaRPr>
          </a:p>
        </p:txBody>
      </p:sp>
      <p:sp>
        <p:nvSpPr>
          <p:cNvPr id="291" name="Google Shape;291;p33"/>
          <p:cNvSpPr txBox="1"/>
          <p:nvPr/>
        </p:nvSpPr>
        <p:spPr>
          <a:xfrm>
            <a:off x="446175" y="645900"/>
            <a:ext cx="85992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Canada's Gross Domestic Spending on R&amp;D (% GDP) lags behind that of other nations. To enhance the Canada innovation landscape, it is imperative to boost net national spending in R&amp;D.</a:t>
            </a:r>
            <a:endParaRPr b="1" sz="1300">
              <a:solidFill>
                <a:srgbClr val="343541"/>
              </a:solidFill>
              <a:latin typeface="Times"/>
              <a:ea typeface="Times"/>
              <a:cs typeface="Times"/>
              <a:sym typeface="Times"/>
            </a:endParaRPr>
          </a:p>
          <a:p>
            <a:pPr indent="0" lvl="0" marL="0" rtl="0" algn="l">
              <a:spcBef>
                <a:spcPts val="0"/>
              </a:spcBef>
              <a:spcAft>
                <a:spcPts val="0"/>
              </a:spcAft>
              <a:buNone/>
            </a:pPr>
            <a:r>
              <a:t/>
            </a:r>
            <a:endParaRPr b="1" sz="1300">
              <a:solidFill>
                <a:srgbClr val="343541"/>
              </a:solidFill>
              <a:latin typeface="Times"/>
              <a:ea typeface="Times"/>
              <a:cs typeface="Times"/>
              <a:sym typeface="Times"/>
            </a:endParaRPr>
          </a:p>
        </p:txBody>
      </p:sp>
      <p:cxnSp>
        <p:nvCxnSpPr>
          <p:cNvPr id="292" name="Google Shape;292;p33"/>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293" name="Google Shape;293;p33"/>
          <p:cNvSpPr txBox="1"/>
          <p:nvPr/>
        </p:nvSpPr>
        <p:spPr>
          <a:xfrm>
            <a:off x="5769550" y="143100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latin typeface="Times"/>
              <a:ea typeface="Times"/>
              <a:cs typeface="Times"/>
              <a:sym typeface="Times"/>
            </a:endParaRPr>
          </a:p>
        </p:txBody>
      </p:sp>
      <p:pic>
        <p:nvPicPr>
          <p:cNvPr id="294" name="Google Shape;294;p33"/>
          <p:cNvPicPr preferRelativeResize="0"/>
          <p:nvPr/>
        </p:nvPicPr>
        <p:blipFill rotWithShape="1">
          <a:blip r:embed="rId4">
            <a:alphaModFix/>
          </a:blip>
          <a:srcRect b="8815" l="6639" r="8787" t="10088"/>
          <a:stretch/>
        </p:blipFill>
        <p:spPr>
          <a:xfrm>
            <a:off x="616711" y="3217075"/>
            <a:ext cx="2068777" cy="1309575"/>
          </a:xfrm>
          <a:prstGeom prst="rect">
            <a:avLst/>
          </a:prstGeom>
          <a:noFill/>
          <a:ln>
            <a:noFill/>
          </a:ln>
        </p:spPr>
      </p:pic>
      <p:pic>
        <p:nvPicPr>
          <p:cNvPr id="295" name="Google Shape;295;p33"/>
          <p:cNvPicPr preferRelativeResize="0"/>
          <p:nvPr/>
        </p:nvPicPr>
        <p:blipFill rotWithShape="1">
          <a:blip r:embed="rId5">
            <a:alphaModFix/>
          </a:blip>
          <a:srcRect b="0" l="0" r="5499" t="0"/>
          <a:stretch/>
        </p:blipFill>
        <p:spPr>
          <a:xfrm>
            <a:off x="446175" y="1374025"/>
            <a:ext cx="2523750" cy="1689550"/>
          </a:xfrm>
          <a:prstGeom prst="rect">
            <a:avLst/>
          </a:prstGeom>
          <a:noFill/>
          <a:ln>
            <a:noFill/>
          </a:ln>
        </p:spPr>
      </p:pic>
      <p:sp>
        <p:nvSpPr>
          <p:cNvPr id="296" name="Google Shape;296;p33"/>
          <p:cNvSpPr txBox="1"/>
          <p:nvPr/>
        </p:nvSpPr>
        <p:spPr>
          <a:xfrm>
            <a:off x="3273725" y="4526650"/>
            <a:ext cx="56181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000">
                <a:solidFill>
                  <a:schemeClr val="dk1"/>
                </a:solidFill>
                <a:latin typeface="Times"/>
                <a:ea typeface="Times"/>
                <a:cs typeface="Times"/>
                <a:sym typeface="Times"/>
              </a:rPr>
              <a:t>Source: OECD, </a:t>
            </a:r>
            <a:r>
              <a:rPr i="1" lang="zh-CN" sz="1000">
                <a:solidFill>
                  <a:schemeClr val="dk1"/>
                </a:solidFill>
                <a:latin typeface="Times"/>
                <a:ea typeface="Times"/>
                <a:cs typeface="Times"/>
                <a:sym typeface="Times"/>
              </a:rPr>
              <a:t>Research and development (R&amp;D) - gross domestic spending on R&amp;D - OECD data</a:t>
            </a:r>
            <a:r>
              <a:rPr lang="zh-CN" sz="1000">
                <a:solidFill>
                  <a:schemeClr val="dk1"/>
                </a:solidFill>
                <a:latin typeface="Times"/>
                <a:ea typeface="Times"/>
                <a:cs typeface="Times"/>
                <a:sym typeface="Times"/>
              </a:rPr>
              <a:t> 2023</a:t>
            </a:r>
            <a:endParaRPr sz="1000">
              <a:solidFill>
                <a:schemeClr val="dk1"/>
              </a:solidFill>
              <a:latin typeface="Times"/>
              <a:ea typeface="Times"/>
              <a:cs typeface="Times"/>
              <a:sym typeface="Time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34"/>
          <p:cNvPicPr preferRelativeResize="0"/>
          <p:nvPr/>
        </p:nvPicPr>
        <p:blipFill>
          <a:blip r:embed="rId3">
            <a:alphaModFix/>
          </a:blip>
          <a:stretch>
            <a:fillRect/>
          </a:stretch>
        </p:blipFill>
        <p:spPr>
          <a:xfrm>
            <a:off x="333075" y="1195825"/>
            <a:ext cx="5447025" cy="3717275"/>
          </a:xfrm>
          <a:prstGeom prst="rect">
            <a:avLst/>
          </a:prstGeom>
          <a:noFill/>
          <a:ln>
            <a:noFill/>
          </a:ln>
        </p:spPr>
      </p:pic>
      <p:sp>
        <p:nvSpPr>
          <p:cNvPr id="302" name="Google Shape;302;p34"/>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Planned </a:t>
            </a:r>
            <a:r>
              <a:rPr b="1" lang="zh-CN">
                <a:solidFill>
                  <a:srgbClr val="1C4587"/>
                </a:solidFill>
                <a:latin typeface="Times"/>
                <a:ea typeface="Times"/>
                <a:cs typeface="Times"/>
                <a:sym typeface="Times"/>
              </a:rPr>
              <a:t>Government Budgetary Allocations on R&amp;D</a:t>
            </a:r>
            <a:endParaRPr b="1">
              <a:solidFill>
                <a:srgbClr val="1C4587"/>
              </a:solidFill>
              <a:latin typeface="Times"/>
              <a:ea typeface="Times"/>
              <a:cs typeface="Times"/>
              <a:sym typeface="Times"/>
            </a:endParaRPr>
          </a:p>
        </p:txBody>
      </p:sp>
      <p:sp>
        <p:nvSpPr>
          <p:cNvPr id="303" name="Google Shape;303;p34"/>
          <p:cNvSpPr txBox="1"/>
          <p:nvPr/>
        </p:nvSpPr>
        <p:spPr>
          <a:xfrm>
            <a:off x="446175" y="645900"/>
            <a:ext cx="85992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With reference </a:t>
            </a:r>
            <a:r>
              <a:rPr b="1" lang="zh-CN" sz="1300">
                <a:solidFill>
                  <a:srgbClr val="343541"/>
                </a:solidFill>
                <a:latin typeface="Times"/>
                <a:ea typeface="Times"/>
                <a:cs typeface="Times"/>
                <a:sym typeface="Times"/>
              </a:rPr>
              <a:t>index (2007=100) using constant prices (USD), Canada's R&amp;D government budget lags behind other countries, with the most significant percentage changes (increasing) observed in Japan, Korea, and Germany.</a:t>
            </a:r>
            <a:endParaRPr b="1" sz="1300">
              <a:solidFill>
                <a:srgbClr val="343541"/>
              </a:solidFill>
              <a:latin typeface="Times"/>
              <a:ea typeface="Times"/>
              <a:cs typeface="Times"/>
              <a:sym typeface="Times"/>
            </a:endParaRPr>
          </a:p>
          <a:p>
            <a:pPr indent="0" lvl="0" marL="0" rtl="0" algn="l">
              <a:spcBef>
                <a:spcPts val="0"/>
              </a:spcBef>
              <a:spcAft>
                <a:spcPts val="0"/>
              </a:spcAft>
              <a:buNone/>
            </a:pPr>
            <a:r>
              <a:t/>
            </a:r>
            <a:endParaRPr b="1" sz="1300">
              <a:solidFill>
                <a:srgbClr val="343541"/>
              </a:solidFill>
              <a:latin typeface="Times"/>
              <a:ea typeface="Times"/>
              <a:cs typeface="Times"/>
              <a:sym typeface="Times"/>
            </a:endParaRPr>
          </a:p>
        </p:txBody>
      </p:sp>
      <p:cxnSp>
        <p:nvCxnSpPr>
          <p:cNvPr id="304" name="Google Shape;304;p34"/>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sp>
        <p:nvSpPr>
          <p:cNvPr id="305" name="Google Shape;305;p34"/>
          <p:cNvSpPr txBox="1"/>
          <p:nvPr/>
        </p:nvSpPr>
        <p:spPr>
          <a:xfrm>
            <a:off x="312050" y="4804200"/>
            <a:ext cx="56181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000">
                <a:solidFill>
                  <a:schemeClr val="dk1"/>
                </a:solidFill>
                <a:latin typeface="Times"/>
                <a:ea typeface="Times"/>
                <a:cs typeface="Times"/>
                <a:sym typeface="Times"/>
              </a:rPr>
              <a:t>Source: </a:t>
            </a:r>
            <a:r>
              <a:rPr lang="zh-CN" sz="1000">
                <a:solidFill>
                  <a:schemeClr val="dk1"/>
                </a:solidFill>
                <a:latin typeface="Times"/>
                <a:ea typeface="Times"/>
                <a:cs typeface="Times"/>
                <a:sym typeface="Times"/>
              </a:rPr>
              <a:t>OECD, </a:t>
            </a:r>
            <a:r>
              <a:rPr i="1" lang="zh-CN" sz="1000">
                <a:solidFill>
                  <a:schemeClr val="dk1"/>
                </a:solidFill>
                <a:latin typeface="Times"/>
                <a:ea typeface="Times"/>
                <a:cs typeface="Times"/>
                <a:sym typeface="Times"/>
              </a:rPr>
              <a:t>OECD Main Science and Technology Indicators - OECD</a:t>
            </a:r>
            <a:r>
              <a:rPr lang="zh-CN" sz="1000">
                <a:solidFill>
                  <a:schemeClr val="dk1"/>
                </a:solidFill>
                <a:latin typeface="Times"/>
                <a:ea typeface="Times"/>
                <a:cs typeface="Times"/>
                <a:sym typeface="Times"/>
              </a:rPr>
              <a:t> 2023</a:t>
            </a:r>
            <a:endParaRPr sz="1000">
              <a:solidFill>
                <a:schemeClr val="dk1"/>
              </a:solidFill>
              <a:latin typeface="Times"/>
              <a:ea typeface="Times"/>
              <a:cs typeface="Times"/>
              <a:sym typeface="Times"/>
            </a:endParaRPr>
          </a:p>
        </p:txBody>
      </p:sp>
      <p:pic>
        <p:nvPicPr>
          <p:cNvPr id="306" name="Google Shape;306;p34"/>
          <p:cNvPicPr preferRelativeResize="0"/>
          <p:nvPr/>
        </p:nvPicPr>
        <p:blipFill>
          <a:blip r:embed="rId4">
            <a:alphaModFix/>
          </a:blip>
          <a:stretch>
            <a:fillRect/>
          </a:stretch>
        </p:blipFill>
        <p:spPr>
          <a:xfrm>
            <a:off x="6461803" y="2351525"/>
            <a:ext cx="1695425" cy="2146125"/>
          </a:xfrm>
          <a:prstGeom prst="rect">
            <a:avLst/>
          </a:prstGeom>
          <a:noFill/>
          <a:ln>
            <a:noFill/>
          </a:ln>
        </p:spPr>
      </p:pic>
      <p:cxnSp>
        <p:nvCxnSpPr>
          <p:cNvPr id="307" name="Google Shape;307;p34"/>
          <p:cNvCxnSpPr/>
          <p:nvPr/>
        </p:nvCxnSpPr>
        <p:spPr>
          <a:xfrm>
            <a:off x="6299125" y="4364750"/>
            <a:ext cx="2258700" cy="28500"/>
          </a:xfrm>
          <a:prstGeom prst="straightConnector1">
            <a:avLst/>
          </a:prstGeom>
          <a:noFill/>
          <a:ln cap="flat" cmpd="sng" w="38100">
            <a:solidFill>
              <a:srgbClr val="1C4587"/>
            </a:solidFill>
            <a:prstDash val="solid"/>
            <a:round/>
            <a:headEnd len="med" w="med" type="none"/>
            <a:tailEnd len="med" w="med" type="none"/>
          </a:ln>
        </p:spPr>
      </p:cxnSp>
      <p:sp>
        <p:nvSpPr>
          <p:cNvPr id="308" name="Google Shape;308;p34"/>
          <p:cNvSpPr txBox="1"/>
          <p:nvPr/>
        </p:nvSpPr>
        <p:spPr>
          <a:xfrm>
            <a:off x="6859525" y="4317325"/>
            <a:ext cx="626400" cy="2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800">
                <a:solidFill>
                  <a:schemeClr val="dk2"/>
                </a:solidFill>
                <a:latin typeface="Times"/>
                <a:ea typeface="Times"/>
                <a:cs typeface="Times"/>
                <a:sym typeface="Times"/>
              </a:rPr>
              <a:t>CA</a:t>
            </a:r>
            <a:endParaRPr b="1" sz="1800">
              <a:solidFill>
                <a:schemeClr val="dk2"/>
              </a:solidFill>
              <a:latin typeface="Times"/>
              <a:ea typeface="Times"/>
              <a:cs typeface="Times"/>
              <a:sym typeface="Times"/>
            </a:endParaRPr>
          </a:p>
        </p:txBody>
      </p:sp>
      <p:sp>
        <p:nvSpPr>
          <p:cNvPr id="309" name="Google Shape;309;p34"/>
          <p:cNvSpPr txBox="1"/>
          <p:nvPr/>
        </p:nvSpPr>
        <p:spPr>
          <a:xfrm>
            <a:off x="7485925" y="4317325"/>
            <a:ext cx="1071900" cy="2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800">
                <a:solidFill>
                  <a:schemeClr val="dk2"/>
                </a:solidFill>
                <a:latin typeface="Times"/>
                <a:ea typeface="Times"/>
                <a:cs typeface="Times"/>
                <a:sym typeface="Times"/>
              </a:rPr>
              <a:t>USA</a:t>
            </a:r>
            <a:endParaRPr b="1" sz="1800">
              <a:solidFill>
                <a:schemeClr val="dk2"/>
              </a:solidFill>
              <a:latin typeface="Times"/>
              <a:ea typeface="Times"/>
              <a:cs typeface="Times"/>
              <a:sym typeface="Times"/>
            </a:endParaRPr>
          </a:p>
        </p:txBody>
      </p:sp>
      <p:sp>
        <p:nvSpPr>
          <p:cNvPr id="310" name="Google Shape;310;p34"/>
          <p:cNvSpPr txBox="1"/>
          <p:nvPr/>
        </p:nvSpPr>
        <p:spPr>
          <a:xfrm>
            <a:off x="6120325" y="1354800"/>
            <a:ext cx="2609700" cy="3586500"/>
          </a:xfrm>
          <a:prstGeom prst="rect">
            <a:avLst/>
          </a:prstGeom>
          <a:noFill/>
          <a:ln cap="flat" cmpd="sng" w="19050">
            <a:solidFill>
              <a:srgbClr val="A4C2F4"/>
            </a:solidFill>
            <a:prstDash val="dashDot"/>
            <a:round/>
            <a:headEnd len="sm" w="sm" type="none"/>
            <a:tailEnd len="sm" w="sm" type="none"/>
          </a:ln>
        </p:spPr>
        <p:txBody>
          <a:bodyPr anchorCtr="0" anchor="t" bIns="91425" lIns="91425" spcFirstLastPara="1" rIns="91425" wrap="square" tIns="91425">
            <a:spAutoFit/>
          </a:bodyPr>
          <a:lstStyle/>
          <a:p>
            <a:pPr indent="0" lvl="0" marL="0" rtl="0" algn="just">
              <a:spcBef>
                <a:spcPts val="0"/>
              </a:spcBef>
              <a:spcAft>
                <a:spcPts val="0"/>
              </a:spcAft>
              <a:buNone/>
            </a:pPr>
            <a:r>
              <a:rPr b="1" lang="zh-CN" sz="1300">
                <a:solidFill>
                  <a:srgbClr val="343541"/>
                </a:solidFill>
                <a:latin typeface="Times"/>
                <a:ea typeface="Times"/>
                <a:cs typeface="Times"/>
                <a:sym typeface="Times"/>
              </a:rPr>
              <a:t>2021 Planned Government R&amp;D Budgets: </a:t>
            </a:r>
            <a:r>
              <a:rPr b="1" lang="zh-CN" sz="1300">
                <a:solidFill>
                  <a:srgbClr val="1C4587"/>
                </a:solidFill>
                <a:latin typeface="Times"/>
                <a:ea typeface="Times"/>
                <a:cs typeface="Times"/>
                <a:sym typeface="Times"/>
              </a:rPr>
              <a:t>relatively small gap</a:t>
            </a:r>
            <a:r>
              <a:rPr b="1" lang="zh-CN" sz="1300">
                <a:solidFill>
                  <a:srgbClr val="343541"/>
                </a:solidFill>
                <a:latin typeface="Times"/>
                <a:ea typeface="Times"/>
                <a:cs typeface="Times"/>
                <a:sym typeface="Times"/>
              </a:rPr>
              <a:t> between the USA and Canada</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a:p>
            <a:pPr indent="0" lvl="0" marL="0" rtl="0" algn="just">
              <a:spcBef>
                <a:spcPts val="0"/>
              </a:spcBef>
              <a:spcAft>
                <a:spcPts val="0"/>
              </a:spcAft>
              <a:buNone/>
            </a:pPr>
            <a:r>
              <a:t/>
            </a:r>
            <a:endParaRPr b="1" sz="1300">
              <a:solidFill>
                <a:srgbClr val="343541"/>
              </a:solidFill>
              <a:latin typeface="Times"/>
              <a:ea typeface="Times"/>
              <a:cs typeface="Times"/>
              <a:sym typeface="Times"/>
            </a:endParaRPr>
          </a:p>
        </p:txBody>
      </p:sp>
      <p:pic>
        <p:nvPicPr>
          <p:cNvPr id="311" name="Google Shape;311;p34"/>
          <p:cNvPicPr preferRelativeResize="0"/>
          <p:nvPr/>
        </p:nvPicPr>
        <p:blipFill>
          <a:blip r:embed="rId5">
            <a:alphaModFix/>
          </a:blip>
          <a:stretch>
            <a:fillRect/>
          </a:stretch>
        </p:blipFill>
        <p:spPr>
          <a:xfrm>
            <a:off x="7556850" y="4447125"/>
            <a:ext cx="465022" cy="284700"/>
          </a:xfrm>
          <a:prstGeom prst="rect">
            <a:avLst/>
          </a:prstGeom>
          <a:noFill/>
          <a:ln>
            <a:noFill/>
          </a:ln>
        </p:spPr>
      </p:pic>
      <p:pic>
        <p:nvPicPr>
          <p:cNvPr id="312" name="Google Shape;312;p34"/>
          <p:cNvPicPr preferRelativeResize="0"/>
          <p:nvPr/>
        </p:nvPicPr>
        <p:blipFill>
          <a:blip r:embed="rId6">
            <a:alphaModFix/>
          </a:blip>
          <a:stretch>
            <a:fillRect/>
          </a:stretch>
        </p:blipFill>
        <p:spPr>
          <a:xfrm>
            <a:off x="6830775" y="4447124"/>
            <a:ext cx="438386" cy="284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txBox="1"/>
          <p:nvPr>
            <p:ph type="title"/>
          </p:nvPr>
        </p:nvSpPr>
        <p:spPr>
          <a:xfrm>
            <a:off x="409275"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Comparative of R&amp;D Funding by Sectors: USA vs. Canada</a:t>
            </a:r>
            <a:endParaRPr b="1">
              <a:solidFill>
                <a:srgbClr val="1C4587"/>
              </a:solidFill>
              <a:latin typeface="Times"/>
              <a:ea typeface="Times"/>
              <a:cs typeface="Times"/>
              <a:sym typeface="Times"/>
            </a:endParaRPr>
          </a:p>
        </p:txBody>
      </p:sp>
      <p:sp>
        <p:nvSpPr>
          <p:cNvPr id="318" name="Google Shape;318;p35"/>
          <p:cNvSpPr txBox="1"/>
          <p:nvPr/>
        </p:nvSpPr>
        <p:spPr>
          <a:xfrm>
            <a:off x="446175" y="645900"/>
            <a:ext cx="85992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300">
                <a:solidFill>
                  <a:srgbClr val="343541"/>
                </a:solidFill>
                <a:latin typeface="Times"/>
                <a:ea typeface="Times"/>
                <a:cs typeface="Times"/>
                <a:sym typeface="Times"/>
              </a:rPr>
              <a:t>R&amp;D Funding Sources Analysis (From 2000 to 2021): </a:t>
            </a:r>
            <a:r>
              <a:rPr b="1" lang="zh-CN" sz="1300">
                <a:solidFill>
                  <a:srgbClr val="343541"/>
                </a:solidFill>
                <a:latin typeface="Times"/>
                <a:ea typeface="Times"/>
                <a:cs typeface="Times"/>
                <a:sym typeface="Times"/>
              </a:rPr>
              <a:t>USA outpaces Canada in business sector R&amp;D funding; boosting Canadian business R&amp;D investments is a potential strategy for innovation enhancement.</a:t>
            </a:r>
            <a:endParaRPr b="1" sz="1300">
              <a:solidFill>
                <a:srgbClr val="343541"/>
              </a:solidFill>
              <a:latin typeface="Times"/>
              <a:ea typeface="Times"/>
              <a:cs typeface="Times"/>
              <a:sym typeface="Times"/>
            </a:endParaRPr>
          </a:p>
          <a:p>
            <a:pPr indent="0" lvl="0" marL="0" rtl="0" algn="l">
              <a:spcBef>
                <a:spcPts val="0"/>
              </a:spcBef>
              <a:spcAft>
                <a:spcPts val="0"/>
              </a:spcAft>
              <a:buNone/>
            </a:pPr>
            <a:r>
              <a:t/>
            </a:r>
            <a:endParaRPr b="1" sz="1300">
              <a:solidFill>
                <a:srgbClr val="343541"/>
              </a:solidFill>
              <a:latin typeface="Times"/>
              <a:ea typeface="Times"/>
              <a:cs typeface="Times"/>
              <a:sym typeface="Times"/>
            </a:endParaRPr>
          </a:p>
        </p:txBody>
      </p:sp>
      <p:cxnSp>
        <p:nvCxnSpPr>
          <p:cNvPr id="319" name="Google Shape;319;p35"/>
          <p:cNvCxnSpPr/>
          <p:nvPr/>
        </p:nvCxnSpPr>
        <p:spPr>
          <a:xfrm flipH="1" rot="10800000">
            <a:off x="471750" y="645900"/>
            <a:ext cx="8200500" cy="600"/>
          </a:xfrm>
          <a:prstGeom prst="straightConnector1">
            <a:avLst/>
          </a:prstGeom>
          <a:noFill/>
          <a:ln cap="flat" cmpd="sng" w="19050">
            <a:solidFill>
              <a:srgbClr val="1C4587"/>
            </a:solidFill>
            <a:prstDash val="solid"/>
            <a:round/>
            <a:headEnd len="med" w="med" type="none"/>
            <a:tailEnd len="med" w="med" type="none"/>
          </a:ln>
        </p:spPr>
      </p:cxnSp>
      <p:pic>
        <p:nvPicPr>
          <p:cNvPr id="320" name="Google Shape;320;p35"/>
          <p:cNvPicPr preferRelativeResize="0"/>
          <p:nvPr/>
        </p:nvPicPr>
        <p:blipFill rotWithShape="1">
          <a:blip r:embed="rId3">
            <a:alphaModFix/>
          </a:blip>
          <a:srcRect b="0" l="1463" r="22287" t="0"/>
          <a:stretch/>
        </p:blipFill>
        <p:spPr>
          <a:xfrm>
            <a:off x="352700" y="1156350"/>
            <a:ext cx="4298732" cy="3664501"/>
          </a:xfrm>
          <a:prstGeom prst="rect">
            <a:avLst/>
          </a:prstGeom>
          <a:noFill/>
          <a:ln>
            <a:noFill/>
          </a:ln>
        </p:spPr>
      </p:pic>
      <p:pic>
        <p:nvPicPr>
          <p:cNvPr id="321" name="Google Shape;321;p35"/>
          <p:cNvPicPr preferRelativeResize="0"/>
          <p:nvPr/>
        </p:nvPicPr>
        <p:blipFill rotWithShape="1">
          <a:blip r:embed="rId4">
            <a:alphaModFix/>
          </a:blip>
          <a:srcRect b="0" l="4379" r="0" t="0"/>
          <a:stretch/>
        </p:blipFill>
        <p:spPr>
          <a:xfrm>
            <a:off x="4651436" y="1156350"/>
            <a:ext cx="3974838" cy="3664499"/>
          </a:xfrm>
          <a:prstGeom prst="rect">
            <a:avLst/>
          </a:prstGeom>
          <a:noFill/>
          <a:ln>
            <a:noFill/>
          </a:ln>
        </p:spPr>
      </p:pic>
      <p:pic>
        <p:nvPicPr>
          <p:cNvPr id="322" name="Google Shape;322;p35"/>
          <p:cNvPicPr preferRelativeResize="0"/>
          <p:nvPr/>
        </p:nvPicPr>
        <p:blipFill>
          <a:blip r:embed="rId5">
            <a:alphaModFix/>
          </a:blip>
          <a:stretch>
            <a:fillRect/>
          </a:stretch>
        </p:blipFill>
        <p:spPr>
          <a:xfrm>
            <a:off x="352700" y="1194325"/>
            <a:ext cx="465022" cy="284700"/>
          </a:xfrm>
          <a:prstGeom prst="rect">
            <a:avLst/>
          </a:prstGeom>
          <a:noFill/>
          <a:ln>
            <a:noFill/>
          </a:ln>
        </p:spPr>
      </p:pic>
      <p:pic>
        <p:nvPicPr>
          <p:cNvPr id="323" name="Google Shape;323;p35"/>
          <p:cNvPicPr preferRelativeResize="0"/>
          <p:nvPr/>
        </p:nvPicPr>
        <p:blipFill>
          <a:blip r:embed="rId6">
            <a:alphaModFix/>
          </a:blip>
          <a:stretch>
            <a:fillRect/>
          </a:stretch>
        </p:blipFill>
        <p:spPr>
          <a:xfrm>
            <a:off x="8442850" y="1041524"/>
            <a:ext cx="438386" cy="284700"/>
          </a:xfrm>
          <a:prstGeom prst="rect">
            <a:avLst/>
          </a:prstGeom>
          <a:noFill/>
          <a:ln>
            <a:noFill/>
          </a:ln>
        </p:spPr>
      </p:pic>
      <p:pic>
        <p:nvPicPr>
          <p:cNvPr id="324" name="Google Shape;324;p35"/>
          <p:cNvPicPr preferRelativeResize="0"/>
          <p:nvPr/>
        </p:nvPicPr>
        <p:blipFill rotWithShape="1">
          <a:blip r:embed="rId7">
            <a:alphaModFix/>
          </a:blip>
          <a:srcRect b="3978" l="2938" r="4072" t="6021"/>
          <a:stretch/>
        </p:blipFill>
        <p:spPr>
          <a:xfrm>
            <a:off x="4919474" y="4447425"/>
            <a:ext cx="960025" cy="572700"/>
          </a:xfrm>
          <a:prstGeom prst="rect">
            <a:avLst/>
          </a:prstGeom>
          <a:noFill/>
          <a:ln>
            <a:noFill/>
          </a:ln>
        </p:spPr>
      </p:pic>
      <p:pic>
        <p:nvPicPr>
          <p:cNvPr id="325" name="Google Shape;325;p35"/>
          <p:cNvPicPr preferRelativeResize="0"/>
          <p:nvPr/>
        </p:nvPicPr>
        <p:blipFill>
          <a:blip r:embed="rId8">
            <a:alphaModFix/>
          </a:blip>
          <a:stretch>
            <a:fillRect/>
          </a:stretch>
        </p:blipFill>
        <p:spPr>
          <a:xfrm>
            <a:off x="352700" y="4447425"/>
            <a:ext cx="1170094" cy="572700"/>
          </a:xfrm>
          <a:prstGeom prst="rect">
            <a:avLst/>
          </a:prstGeom>
          <a:noFill/>
          <a:ln>
            <a:noFill/>
          </a:ln>
        </p:spPr>
      </p:pic>
      <p:sp>
        <p:nvSpPr>
          <p:cNvPr id="326" name="Google Shape;326;p35"/>
          <p:cNvSpPr/>
          <p:nvPr/>
        </p:nvSpPr>
        <p:spPr>
          <a:xfrm>
            <a:off x="778175" y="1489900"/>
            <a:ext cx="3873300" cy="2230500"/>
          </a:xfrm>
          <a:prstGeom prst="rect">
            <a:avLst/>
          </a:prstGeom>
          <a:noFill/>
          <a:ln cap="flat" cmpd="sng" w="38100">
            <a:solidFill>
              <a:srgbClr val="99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35"/>
          <p:cNvSpPr/>
          <p:nvPr/>
        </p:nvSpPr>
        <p:spPr>
          <a:xfrm>
            <a:off x="4919475" y="3720525"/>
            <a:ext cx="3355500" cy="663900"/>
          </a:xfrm>
          <a:prstGeom prst="rect">
            <a:avLst/>
          </a:prstGeom>
          <a:noFill/>
          <a:ln cap="flat" cmpd="sng" w="38100">
            <a:solidFill>
              <a:srgbClr val="99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35"/>
          <p:cNvSpPr/>
          <p:nvPr/>
        </p:nvSpPr>
        <p:spPr>
          <a:xfrm>
            <a:off x="8274975" y="4043625"/>
            <a:ext cx="359100" cy="403800"/>
          </a:xfrm>
          <a:prstGeom prst="rect">
            <a:avLst/>
          </a:prstGeom>
          <a:noFill/>
          <a:ln cap="flat" cmpd="sng" w="38100">
            <a:solidFill>
              <a:srgbClr val="99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35"/>
          <p:cNvSpPr/>
          <p:nvPr/>
        </p:nvSpPr>
        <p:spPr>
          <a:xfrm rot="2003563">
            <a:off x="8307238" y="3461446"/>
            <a:ext cx="464956" cy="257108"/>
          </a:xfrm>
          <a:prstGeom prst="rightArrow">
            <a:avLst>
              <a:gd fmla="val 50000" name="adj1"/>
              <a:gd fmla="val 50000" name="adj2"/>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35"/>
          <p:cNvSpPr txBox="1"/>
          <p:nvPr/>
        </p:nvSpPr>
        <p:spPr>
          <a:xfrm>
            <a:off x="7554325" y="4593225"/>
            <a:ext cx="168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zh-CN" sz="1200">
                <a:solidFill>
                  <a:srgbClr val="980000"/>
                </a:solidFill>
                <a:latin typeface="Times"/>
                <a:ea typeface="Times"/>
                <a:cs typeface="Times"/>
                <a:sym typeface="Times"/>
              </a:rPr>
              <a:t>Post covid-19 pandemic</a:t>
            </a:r>
            <a:endParaRPr b="1" i="1" sz="1200">
              <a:solidFill>
                <a:srgbClr val="980000"/>
              </a:solidFill>
              <a:latin typeface="Times"/>
              <a:ea typeface="Times"/>
              <a:cs typeface="Times"/>
              <a:sym typeface="Time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6"/>
          <p:cNvPicPr preferRelativeResize="0"/>
          <p:nvPr/>
        </p:nvPicPr>
        <p:blipFill>
          <a:blip r:embed="rId3">
            <a:alphaModFix/>
          </a:blip>
          <a:stretch>
            <a:fillRect/>
          </a:stretch>
        </p:blipFill>
        <p:spPr>
          <a:xfrm>
            <a:off x="-76200" y="0"/>
            <a:ext cx="9281352"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1" name="Google Shape;341;p37"/>
          <p:cNvPicPr preferRelativeResize="0"/>
          <p:nvPr/>
        </p:nvPicPr>
        <p:blipFill rotWithShape="1">
          <a:blip r:embed="rId3">
            <a:alphaModFix/>
          </a:blip>
          <a:srcRect b="0" l="0" r="467" t="0"/>
          <a:stretch/>
        </p:blipFill>
        <p:spPr>
          <a:xfrm>
            <a:off x="0" y="3850"/>
            <a:ext cx="9143999" cy="51871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type="title"/>
          </p:nvPr>
        </p:nvSpPr>
        <p:spPr>
          <a:xfrm>
            <a:off x="108925" y="8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zh-CN">
                <a:solidFill>
                  <a:srgbClr val="1C4587"/>
                </a:solidFill>
                <a:latin typeface="Times"/>
                <a:ea typeface="Times"/>
                <a:cs typeface="Times"/>
                <a:sym typeface="Times"/>
              </a:rPr>
              <a:t>References</a:t>
            </a:r>
            <a:endParaRPr b="1">
              <a:solidFill>
                <a:srgbClr val="1C4587"/>
              </a:solidFill>
              <a:latin typeface="Times"/>
              <a:ea typeface="Times"/>
              <a:cs typeface="Times"/>
              <a:sym typeface="Times"/>
            </a:endParaRPr>
          </a:p>
        </p:txBody>
      </p:sp>
      <p:sp>
        <p:nvSpPr>
          <p:cNvPr id="347" name="Google Shape;347;p38"/>
          <p:cNvSpPr txBox="1"/>
          <p:nvPr>
            <p:ph idx="1" type="body"/>
          </p:nvPr>
        </p:nvSpPr>
        <p:spPr>
          <a:xfrm>
            <a:off x="162300" y="5975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[1] Bury, P. (2016). "Innovation in Regulatory Policy: A Fresh Look." Regulatory Policy Institute.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[2] Sector, S. and I. P. (2022a, July 7). </a:t>
            </a:r>
            <a:r>
              <a:rPr i="1" lang="zh-CN" sz="1200">
                <a:solidFill>
                  <a:schemeClr val="dk1"/>
                </a:solidFill>
                <a:latin typeface="Times New Roman"/>
                <a:ea typeface="Times New Roman"/>
                <a:cs typeface="Times New Roman"/>
                <a:sym typeface="Times New Roman"/>
              </a:rPr>
              <a:t>Government of Canada</a:t>
            </a:r>
            <a:r>
              <a:rPr lang="zh-CN" sz="1200">
                <a:solidFill>
                  <a:schemeClr val="dk1"/>
                </a:solidFill>
                <a:latin typeface="Times New Roman"/>
                <a:ea typeface="Times New Roman"/>
                <a:cs typeface="Times New Roman"/>
                <a:sym typeface="Times New Roman"/>
              </a:rPr>
              <a:t>. Government of Canada, Innovation, Science and Economic Development Canada, Office of the Deputy Minister, Strategy and Innovation Policy Sector. https://ised-isde.canada.ca/site/canada-fundamental-science-review/en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[3] Smith, A. (2019). "Incentivizing Scientific Research: A Comparative Analysis of Global Programs." Journal of Innovation and Research Policies, 10(3), 215-230.</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[4] Johnson, M., &amp; White, L. (2020). "Collaborative Models in Scientific Research: Lessons from HEAIP Implementation in Canada." Research Policy, 45(2), 112-128.</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[5] Anderson, J., &amp; Davis, R. (2019). "Shaping Innovation through Intellectual Property: Lessons from the U.S. Post-1980 Model." Journal of Intellectual Property Studies, 12(4), 321-340.</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[6] Harris, D., &amp; Nelson, S. (2021). "Motivating R&amp;D Spending: Insights from the InnoHarbor Canada Program." Science and Innovation Policies, 25(3), 201-220.</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200">
                <a:solidFill>
                  <a:schemeClr val="dk1"/>
                </a:solidFill>
                <a:latin typeface="Times New Roman"/>
                <a:ea typeface="Times New Roman"/>
                <a:cs typeface="Times New Roman"/>
                <a:sym typeface="Times New Roman"/>
              </a:rPr>
              <a:t>[7] Baker, C., &amp; Taylor, R. (2018). "The Role of Innovation Hubs in Knowledge Transfer: A Case Study of Canadian Initiatives." Journal of Innovation Management, 14(2), 89-104.</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1500"/>
              </a:spcAft>
              <a:buNone/>
            </a:pPr>
            <a:r>
              <a:t/>
            </a:r>
            <a:endParaRPr sz="12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idx="1" type="body"/>
          </p:nvPr>
        </p:nvSpPr>
        <p:spPr>
          <a:xfrm>
            <a:off x="247675" y="-1920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[8] Reed, G., &amp; Foster, A. (2019). "Facilitating Interdisciplinary Collaboration through Innovation Hubs: Lessons from the Canadian Experience." Journal of Interdisciplinary Studies in Innovation, 6(1), 45-62.</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[9] Young, E., &amp; Turner, L. (2020). "Aligning STEM Education with Industry Needs: A Case Study of Policy Impacts in Canada." Journal of STEM Education, 15(3), 167-185.</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5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[10] Brás, Gonçalo (2022), “Global Innovation Index: panel data (2011-2022)”, Mendeley Data, V4, doi: 10.17632/cvkdzr8tv3.4</a:t>
            </a:r>
            <a:endParaRPr sz="1100">
              <a:solidFill>
                <a:schemeClr val="dk1"/>
              </a:solidFill>
              <a:latin typeface="Times New Roman"/>
              <a:ea typeface="Times New Roman"/>
              <a:cs typeface="Times New Roman"/>
              <a:sym typeface="Times New Roman"/>
            </a:endParaRPr>
          </a:p>
          <a:p>
            <a:pPr indent="-539750" lvl="0" marL="539750" rtl="0" algn="just">
              <a:lnSpc>
                <a:spcPct val="100000"/>
              </a:lnSpc>
              <a:spcBef>
                <a:spcPts val="15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[11] Lock Search Group. (2018, June 18). Canada’s Expertise in Innovation [Image]. Retrieved from </a:t>
            </a:r>
            <a:r>
              <a:rPr lang="zh-CN" sz="11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https://www.locksearchgroup.com/canadas-expertise-in-innovation/</a:t>
            </a:r>
            <a:endParaRPr sz="1100">
              <a:solidFill>
                <a:schemeClr val="dk1"/>
              </a:solidFill>
              <a:latin typeface="Times New Roman"/>
              <a:ea typeface="Times New Roman"/>
              <a:cs typeface="Times New Roman"/>
              <a:sym typeface="Times New Roman"/>
            </a:endParaRPr>
          </a:p>
          <a:p>
            <a:pPr indent="-539750" lvl="0" marL="539750" rtl="0" algn="just">
              <a:lnSpc>
                <a:spcPct val="100000"/>
              </a:lnSpc>
              <a:spcBef>
                <a:spcPts val="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Sources of funds for expenditures on research and development (R&amp;D) in the higher education sector, in dollars and as a percentage of total funding, Canada and provinces - Dataset from:</a:t>
            </a:r>
            <a:endParaRPr sz="1100">
              <a:solidFill>
                <a:schemeClr val="dk1"/>
              </a:solidFill>
              <a:latin typeface="Times New Roman"/>
              <a:ea typeface="Times New Roman"/>
              <a:cs typeface="Times New Roman"/>
              <a:sym typeface="Times New Roman"/>
            </a:endParaRPr>
          </a:p>
          <a:p>
            <a:pPr indent="250" lvl="0" marL="539750" rtl="0" algn="just">
              <a:lnSpc>
                <a:spcPct val="100000"/>
              </a:lnSpc>
              <a:spcBef>
                <a:spcPts val="0"/>
              </a:spcBef>
              <a:spcAft>
                <a:spcPts val="0"/>
              </a:spcAft>
              <a:buClr>
                <a:schemeClr val="dk1"/>
              </a:buClr>
              <a:buSzPts val="1100"/>
              <a:buFont typeface="Arial"/>
              <a:buNone/>
            </a:pPr>
            <a:r>
              <a:rPr lang="zh-CN" sz="11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https://open.canada.ca/data/dataset/267a1984-3816-4768-b31a-8d0a77a60d22/resource/0ae0cff7-1a3c-40bf-be52-543330012553</a:t>
            </a:r>
            <a:endParaRPr sz="1100">
              <a:solidFill>
                <a:schemeClr val="dk1"/>
              </a:solidFill>
              <a:latin typeface="Times New Roman"/>
              <a:ea typeface="Times New Roman"/>
              <a:cs typeface="Times New Roman"/>
              <a:sym typeface="Times New Roman"/>
            </a:endParaRPr>
          </a:p>
          <a:p>
            <a:pPr indent="-19050" lvl="0" marL="0" rtl="0" algn="just">
              <a:lnSpc>
                <a:spcPct val="100000"/>
              </a:lnSpc>
              <a:spcBef>
                <a:spcPts val="12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[12] OECD. (2023a). OECD Main Science and Technology Indicators - OECD. https://www.oecd.org/sti/msti.htm </a:t>
            </a:r>
            <a:endParaRPr sz="1100">
              <a:solidFill>
                <a:schemeClr val="dk1"/>
              </a:solidFill>
              <a:latin typeface="Times New Roman"/>
              <a:ea typeface="Times New Roman"/>
              <a:cs typeface="Times New Roman"/>
              <a:sym typeface="Times New Roman"/>
            </a:endParaRPr>
          </a:p>
          <a:p>
            <a:pPr indent="-368300" lvl="0" marL="368300" rtl="0" algn="just">
              <a:lnSpc>
                <a:spcPct val="100000"/>
              </a:lnSpc>
              <a:spcBef>
                <a:spcPts val="12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[13] OECD. (2023b). </a:t>
            </a:r>
            <a:r>
              <a:rPr i="1" lang="zh-CN" sz="1100">
                <a:solidFill>
                  <a:schemeClr val="dk1"/>
                </a:solidFill>
                <a:latin typeface="Times New Roman"/>
                <a:ea typeface="Times New Roman"/>
                <a:cs typeface="Times New Roman"/>
                <a:sym typeface="Times New Roman"/>
              </a:rPr>
              <a:t>Research and development (R&amp;D) - gross domestic spending on R&amp;D - OECD data</a:t>
            </a:r>
            <a:r>
              <a:rPr lang="zh-CN" sz="1100">
                <a:solidFill>
                  <a:schemeClr val="dk1"/>
                </a:solidFill>
                <a:latin typeface="Times New Roman"/>
                <a:ea typeface="Times New Roman"/>
                <a:cs typeface="Times New Roman"/>
                <a:sym typeface="Times New Roman"/>
              </a:rPr>
              <a:t>. https://data.oecd.org/rd/gross-domestic-spending-on-r-d.htm </a:t>
            </a:r>
            <a:endParaRPr sz="1100">
              <a:solidFill>
                <a:schemeClr val="dk1"/>
              </a:solidFill>
              <a:latin typeface="Times New Roman"/>
              <a:ea typeface="Times New Roman"/>
              <a:cs typeface="Times New Roman"/>
              <a:sym typeface="Times New Roman"/>
            </a:endParaRPr>
          </a:p>
          <a:p>
            <a:pPr indent="-539750" lvl="0" marL="539750" rtl="0" algn="just">
              <a:lnSpc>
                <a:spcPct val="100000"/>
              </a:lnSpc>
              <a:spcBef>
                <a:spcPts val="120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[14] United States Patent and Trademark Office. (n.d.). U.S. Patent Statistics Chart [Data set]. Retrieved from</a:t>
            </a:r>
            <a:r>
              <a:rPr lang="zh-CN" sz="11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 https://www.uspto.gov/web/offices/ac/ido/oeip/taf/us_stat.htm</a:t>
            </a:r>
            <a:endParaRPr sz="1100">
              <a:solidFill>
                <a:schemeClr val="dk1"/>
              </a:solidFill>
              <a:latin typeface="Times New Roman"/>
              <a:ea typeface="Times New Roman"/>
              <a:cs typeface="Times New Roman"/>
              <a:sym typeface="Times New Roman"/>
            </a:endParaRPr>
          </a:p>
          <a:p>
            <a:pPr indent="-539750" lvl="0" marL="539750" rtl="0" algn="just">
              <a:lnSpc>
                <a:spcPct val="100000"/>
              </a:lnSpc>
              <a:spcBef>
                <a:spcPts val="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[15] Canadian Intellectual Property Office. (2020). Patent Statistics 2019-2020. Innovation, Science and Economic Development Canada. Retrieved from</a:t>
            </a:r>
            <a:r>
              <a:rPr lang="zh-CN" sz="11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https://ised-isde.canada.ca/site/canadian-intellectual-property-office/en/patent-statistics-2019-2020</a:t>
            </a:r>
            <a:endParaRPr sz="1100">
              <a:solidFill>
                <a:schemeClr val="dk1"/>
              </a:solidFill>
              <a:latin typeface="Times New Roman"/>
              <a:ea typeface="Times New Roman"/>
              <a:cs typeface="Times New Roman"/>
              <a:sym typeface="Times New Roman"/>
            </a:endParaRPr>
          </a:p>
          <a:p>
            <a:pPr indent="-539750" lvl="0" marL="539750" rtl="0" algn="just">
              <a:lnSpc>
                <a:spcPct val="100000"/>
              </a:lnSpc>
              <a:spcBef>
                <a:spcPts val="0"/>
              </a:spcBef>
              <a:spcAft>
                <a:spcPts val="0"/>
              </a:spcAft>
              <a:buClr>
                <a:schemeClr val="dk1"/>
              </a:buClr>
              <a:buSzPts val="1100"/>
              <a:buFont typeface="Arial"/>
              <a:buNone/>
            </a:pPr>
            <a:r>
              <a:rPr lang="zh-CN" sz="1100">
                <a:solidFill>
                  <a:schemeClr val="dk1"/>
                </a:solidFill>
                <a:latin typeface="Times New Roman"/>
                <a:ea typeface="Times New Roman"/>
                <a:cs typeface="Times New Roman"/>
                <a:sym typeface="Times New Roman"/>
              </a:rPr>
              <a:t>[16] WIPO (2023), “Global Innovation Index 2023, 16th Edition Innovation in the face of uncertainty” Dataset retrieve from: https://www.wipo.int/publications/en/details.jsp?id=4679</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8" name="Google Shape;35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9" name="Google Shape;359;p40"/>
          <p:cNvPicPr preferRelativeResize="0"/>
          <p:nvPr/>
        </p:nvPicPr>
        <p:blipFill>
          <a:blip r:embed="rId3">
            <a:alphaModFix/>
          </a:blip>
          <a:stretch>
            <a:fillRect/>
          </a:stretch>
        </p:blipFill>
        <p:spPr>
          <a:xfrm>
            <a:off x="2774" y="0"/>
            <a:ext cx="9138453"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